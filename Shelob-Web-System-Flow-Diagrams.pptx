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Calibri"/>
              </a:rPr>
              <a:t>Shelob Web</a:t>
            </a:r>
          </a:p>
          <a:p>
            <a:pPr algn="ctr"/>
            <a:r>
              <a:rPr sz="3600" b="0">
                <a:solidFill>
                  <a:srgbClr val="6366F1"/>
                </a:solidFill>
                <a:latin typeface="Calibri"/>
              </a:rPr>
              <a:t>System Flow Diagrams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94A3B8"/>
                </a:solidFill>
                <a:latin typeface="Calibri"/>
              </a:rPr>
              <a:t>Architecture &amp; Data Flow Reference  |  Cloudflare Workers + D1 + KV</a:t>
            </a:r>
          </a:p>
        </p:txBody>
      </p:sp>
      <p:sp>
        <p:nvSpPr>
          <p:cNvPr id="4" name="Oval 3"/>
          <p:cNvSpPr/>
          <p:nvPr/>
        </p:nvSpPr>
        <p:spPr>
          <a:xfrm>
            <a:off x="2286000" y="4572000"/>
            <a:ext cx="164592" cy="164592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14600" y="455371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E2E8F0"/>
                </a:solidFill>
                <a:latin typeface="Calibri"/>
              </a:rPr>
              <a:t>Primary Flow</a:t>
            </a:r>
          </a:p>
        </p:txBody>
      </p:sp>
      <p:sp>
        <p:nvSpPr>
          <p:cNvPr id="6" name="Oval 5"/>
          <p:cNvSpPr/>
          <p:nvPr/>
        </p:nvSpPr>
        <p:spPr>
          <a:xfrm>
            <a:off x="3931920" y="4572000"/>
            <a:ext cx="164592" cy="16459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60520" y="455371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E2E8F0"/>
                </a:solidFill>
                <a:latin typeface="Calibri"/>
              </a:rPr>
              <a:t>Success</a:t>
            </a:r>
          </a:p>
        </p:txBody>
      </p:sp>
      <p:sp>
        <p:nvSpPr>
          <p:cNvPr id="8" name="Oval 7"/>
          <p:cNvSpPr/>
          <p:nvPr/>
        </p:nvSpPr>
        <p:spPr>
          <a:xfrm>
            <a:off x="5577840" y="4572000"/>
            <a:ext cx="164592" cy="164592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06440" y="455371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E2E8F0"/>
                </a:solidFill>
                <a:latin typeface="Calibri"/>
              </a:rPr>
              <a:t>Error</a:t>
            </a:r>
          </a:p>
        </p:txBody>
      </p:sp>
      <p:sp>
        <p:nvSpPr>
          <p:cNvPr id="10" name="Oval 9"/>
          <p:cNvSpPr/>
          <p:nvPr/>
        </p:nvSpPr>
        <p:spPr>
          <a:xfrm>
            <a:off x="7223760" y="4572000"/>
            <a:ext cx="164592" cy="164592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52360" y="455371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E2E8F0"/>
                </a:solidFill>
                <a:latin typeface="Calibri"/>
              </a:rPr>
              <a:t>Gating</a:t>
            </a:r>
          </a:p>
        </p:txBody>
      </p:sp>
      <p:sp>
        <p:nvSpPr>
          <p:cNvPr id="12" name="Oval 11"/>
          <p:cNvSpPr/>
          <p:nvPr/>
        </p:nvSpPr>
        <p:spPr>
          <a:xfrm>
            <a:off x="8869680" y="4572000"/>
            <a:ext cx="164592" cy="164592"/>
          </a:xfrm>
          <a:prstGeom prst="ellipse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280" y="455371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E2E8F0"/>
                </a:solidFill>
                <a:latin typeface="Calibri"/>
              </a:rPr>
              <a:t>AI Feature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1. User Onboarding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94A3B8"/>
                </a:solidFill>
                <a:latin typeface="Calibri"/>
              </a:rPr>
              <a:t>Sign up &gt; Magic link &gt; Login &gt; Add website &gt; Quick audit &gt; Full audit &gt;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554480"/>
            <a:ext cx="1463040" cy="594360"/>
          </a:xfrm>
          <a:prstGeom prst="roundRect">
            <a:avLst/>
          </a:prstGeom>
          <a:solidFill>
            <a:srgbClr val="6366F1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Marketing Page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48840" y="1554480"/>
            <a:ext cx="1463040" cy="59436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2E8F0"/>
                </a:solidFill>
                <a:latin typeface="Calibri"/>
              </a:rPr>
              <a:t>Enter Email
/login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31920" y="1554480"/>
            <a:ext cx="1463040" cy="59436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2E8F0"/>
                </a:solidFill>
                <a:latin typeface="Calibri"/>
              </a:rPr>
              <a:t>POST
/api/auth/login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0" y="1554480"/>
            <a:ext cx="1463040" cy="59436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2E8F0"/>
                </a:solidFill>
                <a:latin typeface="Calibri"/>
              </a:rPr>
              <a:t>Brevo API
Send Magic Link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0" y="1554480"/>
            <a:ext cx="1463040" cy="59436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2E8F0"/>
                </a:solidFill>
                <a:latin typeface="Calibri"/>
              </a:rPr>
              <a:t>Store Token
in D1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81160" y="1554480"/>
            <a:ext cx="1463040" cy="59436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2E8F0"/>
                </a:solidFill>
                <a:latin typeface="Calibri"/>
              </a:rPr>
              <a:t>User Clicks
Email Link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828800" y="1851660"/>
            <a:ext cx="320040" cy="0"/>
          </a:xfrm>
          <a:prstGeom prst="line">
            <a:avLst/>
          </a:prstGeom>
          <a:ln w="25400">
            <a:solidFill>
              <a:srgbClr val="6366F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611880" y="1851660"/>
            <a:ext cx="320040" cy="0"/>
          </a:xfrm>
          <a:prstGeom prst="line">
            <a:avLst/>
          </a:prstGeom>
          <a:ln w="25400">
            <a:solidFill>
              <a:srgbClr val="6366F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394960" y="1851660"/>
            <a:ext cx="320040" cy="0"/>
          </a:xfrm>
          <a:prstGeom prst="line">
            <a:avLst/>
          </a:prstGeom>
          <a:ln w="25400">
            <a:solidFill>
              <a:srgbClr val="6366F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178040" y="1851660"/>
            <a:ext cx="320040" cy="0"/>
          </a:xfrm>
          <a:prstGeom prst="line">
            <a:avLst/>
          </a:prstGeom>
          <a:ln w="25400">
            <a:solidFill>
              <a:srgbClr val="6366F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961120" y="1851660"/>
            <a:ext cx="320040" cy="0"/>
          </a:xfrm>
          <a:prstGeom prst="line">
            <a:avLst/>
          </a:prstGeom>
          <a:ln w="25400">
            <a:solidFill>
              <a:srgbClr val="6366F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65760" y="2560320"/>
            <a:ext cx="1463040" cy="59436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2E8F0"/>
                </a:solidFill>
                <a:latin typeface="Calibri"/>
              </a:rPr>
              <a:t>GET /api/auth
/verify?token=X</a:t>
            </a:r>
          </a:p>
        </p:txBody>
      </p:sp>
      <p:sp>
        <p:nvSpPr>
          <p:cNvPr id="16" name="Diamond 15"/>
          <p:cNvSpPr/>
          <p:nvPr/>
        </p:nvSpPr>
        <p:spPr>
          <a:xfrm>
            <a:off x="2148840" y="2560320"/>
            <a:ext cx="1188720" cy="914400"/>
          </a:xfrm>
          <a:prstGeom prst="diamond">
            <a:avLst/>
          </a:prstGeom>
          <a:solidFill>
            <a:srgbClr val="131624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E2E8F0"/>
                </a:solidFill>
                <a:latin typeface="Calibri"/>
              </a:rPr>
              <a:t>Token
Valid?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0" y="3749040"/>
            <a:ext cx="1463040" cy="50292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87171"/>
                </a:solidFill>
                <a:latin typeface="Calibri"/>
              </a:rPr>
              <a:t>Expired / Invalid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743200" y="3474720"/>
            <a:ext cx="1645920" cy="274320"/>
          </a:xfrm>
          <a:prstGeom prst="line">
            <a:avLst/>
          </a:prstGeom>
          <a:ln w="25400">
            <a:solidFill>
              <a:srgbClr val="F8717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468880" y="35204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F87171"/>
                </a:solidFill>
                <a:latin typeface="Calibri"/>
              </a:rPr>
              <a:t>No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0" y="2560320"/>
            <a:ext cx="1463040" cy="59436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2E8F0"/>
                </a:solidFill>
                <a:latin typeface="Calibri"/>
              </a:rPr>
              <a:t>Upsert User
in D1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2560320"/>
            <a:ext cx="1463040" cy="59436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2E8F0"/>
                </a:solidFill>
                <a:latin typeface="Calibri"/>
              </a:rPr>
              <a:t>Create Session
in KV (30d TTL)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23760" y="2560320"/>
            <a:ext cx="1463040" cy="59436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2E8F0"/>
                </a:solidFill>
                <a:latin typeface="Calibri"/>
              </a:rPr>
              <a:t>Set Cookie
Redirect /dashboard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1097280" y="2148840"/>
            <a:ext cx="8915400" cy="411480"/>
          </a:xfrm>
          <a:prstGeom prst="line">
            <a:avLst/>
          </a:prstGeom>
          <a:ln w="2540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828800" y="2857500"/>
            <a:ext cx="320040" cy="160020"/>
          </a:xfrm>
          <a:prstGeom prst="line">
            <a:avLst/>
          </a:prstGeom>
          <a:ln w="25400">
            <a:solidFill>
              <a:srgbClr val="6366F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3337560" y="2857500"/>
            <a:ext cx="320040" cy="160020"/>
          </a:xfrm>
          <a:prstGeom prst="line">
            <a:avLst/>
          </a:prstGeom>
          <a:ln w="2540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355848" y="27889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34D399"/>
                </a:solidFill>
                <a:latin typeface="Calibri"/>
              </a:rPr>
              <a:t>Yes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120640" y="2857500"/>
            <a:ext cx="320040" cy="0"/>
          </a:xfrm>
          <a:prstGeom prst="line">
            <a:avLst/>
          </a:prstGeom>
          <a:ln w="2540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903720" y="2857500"/>
            <a:ext cx="320040" cy="0"/>
          </a:xfrm>
          <a:prstGeom prst="line">
            <a:avLst/>
          </a:prstGeom>
          <a:ln w="2540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65760" y="3931920"/>
            <a:ext cx="1463040" cy="59436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2E8F0"/>
                </a:solidFill>
                <a:latin typeface="Calibri"/>
              </a:rPr>
              <a:t>Dashboard
Loads</a:t>
            </a:r>
          </a:p>
        </p:txBody>
      </p:sp>
      <p:sp>
        <p:nvSpPr>
          <p:cNvPr id="30" name="Diamond 29"/>
          <p:cNvSpPr/>
          <p:nvPr/>
        </p:nvSpPr>
        <p:spPr>
          <a:xfrm>
            <a:off x="2148840" y="3931920"/>
            <a:ext cx="1188720" cy="914400"/>
          </a:xfrm>
          <a:prstGeom prst="diamond">
            <a:avLst/>
          </a:prstGeom>
          <a:solidFill>
            <a:srgbClr val="131624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E2E8F0"/>
                </a:solidFill>
                <a:latin typeface="Calibri"/>
              </a:rPr>
              <a:t>Plan
Limits?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0" y="3931920"/>
            <a:ext cx="1463040" cy="59436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2E8F0"/>
                </a:solidFill>
                <a:latin typeface="Calibri"/>
              </a:rPr>
              <a:t>POST
/api/properties
Add Website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40680" y="3931920"/>
            <a:ext cx="1463040" cy="59436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2E8F0"/>
                </a:solidFill>
                <a:latin typeface="Calibri"/>
              </a:rPr>
              <a:t>Quick Audit
Homepage Only
(3-5 sec)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23760" y="3931920"/>
            <a:ext cx="1463040" cy="59436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C084FC"/>
                </a:solidFill>
                <a:latin typeface="Calibri"/>
              </a:rPr>
              <a:t>Full Sitemap
Audit (BG)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06840" y="3931920"/>
            <a:ext cx="1463040" cy="59436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34D399"/>
                </a:solidFill>
                <a:latin typeface="Calibri"/>
              </a:rPr>
              <a:t>Dashboard
With Results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1097280" y="3154680"/>
            <a:ext cx="6858000" cy="777240"/>
          </a:xfrm>
          <a:prstGeom prst="line">
            <a:avLst/>
          </a:prstGeom>
          <a:ln w="2540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828800" y="4229100"/>
            <a:ext cx="320040" cy="160020"/>
          </a:xfrm>
          <a:prstGeom prst="line">
            <a:avLst/>
          </a:prstGeom>
          <a:ln w="25400">
            <a:solidFill>
              <a:srgbClr val="6366F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2057400" y="5120640"/>
            <a:ext cx="1371600" cy="50292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BBF24"/>
                </a:solidFill>
                <a:latin typeface="Calibri"/>
              </a:rPr>
              <a:t>Upgrade Required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743200" y="4846320"/>
            <a:ext cx="0" cy="274320"/>
          </a:xfrm>
          <a:prstGeom prst="line">
            <a:avLst/>
          </a:prstGeom>
          <a:ln w="25400">
            <a:solidFill>
              <a:srgbClr val="FBBF2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468880" y="489204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FBBF24"/>
                </a:solidFill>
                <a:latin typeface="Calibri"/>
              </a:rPr>
              <a:t>Over</a:t>
            </a:r>
          </a:p>
        </p:txBody>
      </p:sp>
      <p:cxnSp>
        <p:nvCxnSpPr>
          <p:cNvPr id="40" name="Connector 39"/>
          <p:cNvCxnSpPr/>
          <p:nvPr/>
        </p:nvCxnSpPr>
        <p:spPr>
          <a:xfrm flipV="1">
            <a:off x="3337560" y="4229100"/>
            <a:ext cx="320040" cy="160020"/>
          </a:xfrm>
          <a:prstGeom prst="line">
            <a:avLst/>
          </a:prstGeom>
          <a:ln w="2540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3355848" y="416052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34D399"/>
                </a:solidFill>
                <a:latin typeface="Calibri"/>
              </a:rPr>
              <a:t>OK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120640" y="4229100"/>
            <a:ext cx="320040" cy="0"/>
          </a:xfrm>
          <a:prstGeom prst="line">
            <a:avLst/>
          </a:prstGeom>
          <a:ln w="25400">
            <a:solidFill>
              <a:srgbClr val="6366F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6903720" y="4229100"/>
            <a:ext cx="320040" cy="0"/>
          </a:xfrm>
          <a:prstGeom prst="line">
            <a:avLst/>
          </a:prstGeom>
          <a:ln w="25400">
            <a:solidFill>
              <a:srgbClr val="C084F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686800" y="4229100"/>
            <a:ext cx="320040" cy="0"/>
          </a:xfrm>
          <a:prstGeom prst="line">
            <a:avLst/>
          </a:prstGeom>
          <a:ln w="2540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365760" y="5120640"/>
            <a:ext cx="2560320" cy="1097280"/>
          </a:xfrm>
          <a:prstGeom prst="roundRect">
            <a:avLst/>
          </a:prstGeom>
          <a:solidFill>
            <a:srgbClr val="0F111A"/>
          </a:solidFill>
          <a:ln w="19050">
            <a:solidFill>
              <a:srgbClr val="1E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94A3B8"/>
                </a:solidFill>
                <a:latin typeface="Calibri"/>
              </a:rPr>
              <a:t>Quick Audit Checks:</a:t>
            </a:r>
          </a:p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Title, Meta Desc, H1, Schema</a:t>
            </a:r>
          </a:p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Accessibility, Broken Links</a:t>
            </a:r>
          </a:p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PageSpeed Insights (CrUX/Lab)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200400" y="5120640"/>
            <a:ext cx="2560320" cy="1097280"/>
          </a:xfrm>
          <a:prstGeom prst="roundRect">
            <a:avLst/>
          </a:prstGeom>
          <a:solidFill>
            <a:srgbClr val="0F111A"/>
          </a:solidFill>
          <a:ln w="19050">
            <a:solidFill>
              <a:srgbClr val="1E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94A3B8"/>
                </a:solidFill>
                <a:latin typeface="Calibri"/>
              </a:rPr>
              <a:t>Full Audit Pipeline:</a:t>
            </a:r>
          </a:p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Sitemap crawl (500 pages max)</a:t>
            </a:r>
          </a:p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SEO + A11y + Broken Links</a:t>
            </a:r>
          </a:p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AI Readiness + Schema Validation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035040" y="5120640"/>
            <a:ext cx="2560320" cy="1097280"/>
          </a:xfrm>
          <a:prstGeom prst="roundRect">
            <a:avLst/>
          </a:prstGeom>
          <a:solidFill>
            <a:srgbClr val="0F111A"/>
          </a:solidFill>
          <a:ln w="19050">
            <a:solidFill>
              <a:srgbClr val="1E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94A3B8"/>
                </a:solidFill>
                <a:latin typeface="Calibri"/>
              </a:rPr>
              <a:t>Data Storage:</a:t>
            </a:r>
          </a:p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D1: audits, issues, broken_links</a:t>
            </a:r>
          </a:p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D1: accessibility_issues, keywords</a:t>
            </a:r>
          </a:p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KV: session cache, quick audit cache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869680" y="5120640"/>
            <a:ext cx="2560320" cy="1097280"/>
          </a:xfrm>
          <a:prstGeom prst="roundRect">
            <a:avLst/>
          </a:prstGeom>
          <a:solidFill>
            <a:srgbClr val="0F111A"/>
          </a:solidFill>
          <a:ln w="19050">
            <a:solidFill>
              <a:srgbClr val="1E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94A3B8"/>
                </a:solidFill>
                <a:latin typeface="Calibri"/>
              </a:rPr>
              <a:t>Auth Details:</a:t>
            </a:r>
          </a:p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Magic link via Brevo (15 min TTL)</a:t>
            </a:r>
          </a:p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Sessions in KV (30 day TTL)</a:t>
            </a:r>
          </a:p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7-day trial on first signup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2. Google OAuth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94A3B8"/>
                </a:solidFill>
                <a:latin typeface="Calibri"/>
              </a:rPr>
              <a:t>Connect Google &gt; Token reuse check &gt; OAuth redirect OR token copy &gt; Auto-discover GA4 + Search Console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554480"/>
            <a:ext cx="1554480" cy="640080"/>
          </a:xfrm>
          <a:prstGeom prst="roundRect">
            <a:avLst/>
          </a:prstGeom>
          <a:solidFill>
            <a:srgbClr val="6366F1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Click 'Connect
Google'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03120" y="1554480"/>
            <a:ext cx="1554480" cy="64008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2E8F0"/>
                </a:solidFill>
                <a:latin typeface="Calibri"/>
              </a:rPr>
              <a:t>GET /api/oauth
/google/start</a:t>
            </a:r>
          </a:p>
        </p:txBody>
      </p:sp>
      <p:sp>
        <p:nvSpPr>
          <p:cNvPr id="6" name="Diamond 5"/>
          <p:cNvSpPr/>
          <p:nvPr/>
        </p:nvSpPr>
        <p:spPr>
          <a:xfrm>
            <a:off x="3931920" y="1554480"/>
            <a:ext cx="1371600" cy="1005840"/>
          </a:xfrm>
          <a:prstGeom prst="diamond">
            <a:avLst/>
          </a:prstGeom>
          <a:solidFill>
            <a:srgbClr val="131624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E2E8F0"/>
                </a:solidFill>
                <a:latin typeface="Calibri"/>
              </a:rPr>
              <a:t>Existing
Token on
Other Prop?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2926080"/>
            <a:ext cx="1554480" cy="64008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2E8F0"/>
                </a:solidFill>
                <a:latin typeface="Calibri"/>
              </a:rPr>
              <a:t>Copy Encrypted
Refresh Token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617720" y="2560320"/>
            <a:ext cx="0" cy="365760"/>
          </a:xfrm>
          <a:prstGeom prst="line">
            <a:avLst/>
          </a:prstGeom>
          <a:ln w="2540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754880" y="26060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34D399"/>
                </a:solidFill>
                <a:latin typeface="Calibri"/>
              </a:rPr>
              <a:t>Yes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77840" y="1554480"/>
            <a:ext cx="1554480" cy="64008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2E8F0"/>
                </a:solidFill>
                <a:latin typeface="Calibri"/>
              </a:rPr>
              <a:t>Create OAuth
State in D1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5303520" y="1874520"/>
            <a:ext cx="274320" cy="182880"/>
          </a:xfrm>
          <a:prstGeom prst="line">
            <a:avLst/>
          </a:prstGeom>
          <a:ln w="25400">
            <a:solidFill>
              <a:srgbClr val="6366F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321808" y="1828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6366F1"/>
                </a:solidFill>
                <a:latin typeface="Calibri"/>
              </a:rPr>
              <a:t>No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1554480"/>
            <a:ext cx="1554480" cy="64008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2E8F0"/>
                </a:solidFill>
                <a:latin typeface="Calibri"/>
              </a:rPr>
              <a:t>302 Redirect to
Google Consent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554480"/>
            <a:ext cx="1554480" cy="64008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2E8F0"/>
                </a:solidFill>
                <a:latin typeface="Calibri"/>
              </a:rPr>
              <a:t>User Grants
GA4 + GSC
Read Access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828800" y="1874520"/>
            <a:ext cx="274320" cy="0"/>
          </a:xfrm>
          <a:prstGeom prst="line">
            <a:avLst/>
          </a:prstGeom>
          <a:ln w="25400">
            <a:solidFill>
              <a:srgbClr val="6366F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657600" y="1874520"/>
            <a:ext cx="274320" cy="182880"/>
          </a:xfrm>
          <a:prstGeom prst="line">
            <a:avLst/>
          </a:prstGeom>
          <a:ln w="25400">
            <a:solidFill>
              <a:srgbClr val="6366F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132320" y="1874520"/>
            <a:ext cx="274320" cy="0"/>
          </a:xfrm>
          <a:prstGeom prst="line">
            <a:avLst/>
          </a:prstGeom>
          <a:ln w="25400">
            <a:solidFill>
              <a:srgbClr val="6366F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961120" y="1874520"/>
            <a:ext cx="274320" cy="0"/>
          </a:xfrm>
          <a:prstGeom prst="line">
            <a:avLst/>
          </a:prstGeom>
          <a:ln w="2540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577840" y="2926080"/>
            <a:ext cx="1554480" cy="64008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2E8F0"/>
                </a:solidFill>
                <a:latin typeface="Calibri"/>
              </a:rPr>
              <a:t>GET /api/oauth
/google/callback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6355080" y="2194560"/>
            <a:ext cx="3657600" cy="731520"/>
          </a:xfrm>
          <a:prstGeom prst="line">
            <a:avLst/>
          </a:prstGeom>
          <a:ln w="2540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406640" y="2926080"/>
            <a:ext cx="1554480" cy="64008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2E8F0"/>
                </a:solidFill>
                <a:latin typeface="Calibri"/>
              </a:rPr>
              <a:t>Exchange Code
for Tokens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35440" y="2926080"/>
            <a:ext cx="1554480" cy="64008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2E8F0"/>
                </a:solidFill>
                <a:latin typeface="Calibri"/>
              </a:rPr>
              <a:t>Encrypt Token
(AES-GCM)
Store in D1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32320" y="3246120"/>
            <a:ext cx="274320" cy="0"/>
          </a:xfrm>
          <a:prstGeom prst="line">
            <a:avLst/>
          </a:prstGeom>
          <a:ln w="25400">
            <a:solidFill>
              <a:srgbClr val="6366F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961120" y="3246120"/>
            <a:ext cx="274320" cy="0"/>
          </a:xfrm>
          <a:prstGeom prst="line">
            <a:avLst/>
          </a:prstGeom>
          <a:ln w="2540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57200" y="4114800"/>
            <a:ext cx="1828800" cy="64008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2E8F0"/>
                </a:solidFill>
                <a:latin typeface="Calibri"/>
              </a:rPr>
              <a:t>Auto-Discover
GA4 Properties</a:t>
            </a:r>
          </a:p>
        </p:txBody>
      </p:sp>
      <p:sp>
        <p:nvSpPr>
          <p:cNvPr id="26" name="Diamond 25"/>
          <p:cNvSpPr/>
          <p:nvPr/>
        </p:nvSpPr>
        <p:spPr>
          <a:xfrm>
            <a:off x="2560320" y="4114800"/>
            <a:ext cx="1371600" cy="914400"/>
          </a:xfrm>
          <a:prstGeom prst="diamond">
            <a:avLst/>
          </a:prstGeom>
          <a:solidFill>
            <a:srgbClr val="131624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E2E8F0"/>
                </a:solidFill>
                <a:latin typeface="Calibri"/>
              </a:rPr>
              <a:t>Domain
Match?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06240" y="4114800"/>
            <a:ext cx="1554480" cy="64008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2E8F0"/>
                </a:solidFill>
                <a:latin typeface="Calibri"/>
              </a:rPr>
              <a:t>Set
ga4_property_id
in D1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35040" y="4114800"/>
            <a:ext cx="1828800" cy="64008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2E8F0"/>
                </a:solidFill>
                <a:latin typeface="Calibri"/>
              </a:rPr>
              <a:t>Auto-Discover
Search Console
Sites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4114800"/>
            <a:ext cx="1554480" cy="64008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2E8F0"/>
                </a:solidFill>
                <a:latin typeface="Calibri"/>
              </a:rPr>
              <a:t>Set
gsc_properties
in D1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66960" y="4114800"/>
            <a:ext cx="1554480" cy="64008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34D399"/>
                </a:solidFill>
                <a:latin typeface="Calibri"/>
              </a:rPr>
              <a:t>Google
Connected!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1371600" y="3566160"/>
            <a:ext cx="3246120" cy="548640"/>
          </a:xfrm>
          <a:prstGeom prst="line">
            <a:avLst/>
          </a:prstGeom>
          <a:ln w="2540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5486400" y="3566160"/>
            <a:ext cx="4526280" cy="548640"/>
          </a:xfrm>
          <a:prstGeom prst="line">
            <a:avLst/>
          </a:prstGeom>
          <a:ln w="2540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286000" y="4434840"/>
            <a:ext cx="274320" cy="137160"/>
          </a:xfrm>
          <a:prstGeom prst="line">
            <a:avLst/>
          </a:prstGeom>
          <a:ln w="25400">
            <a:solidFill>
              <a:srgbClr val="C084F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3931920" y="4434840"/>
            <a:ext cx="274320" cy="137160"/>
          </a:xfrm>
          <a:prstGeom prst="line">
            <a:avLst/>
          </a:prstGeom>
          <a:ln w="2540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950208" y="43434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34D399"/>
                </a:solidFill>
                <a:latin typeface="Calibri"/>
              </a:rPr>
              <a:t>Yes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760720" y="4434840"/>
            <a:ext cx="274320" cy="0"/>
          </a:xfrm>
          <a:prstGeom prst="line">
            <a:avLst/>
          </a:prstGeom>
          <a:ln w="25400">
            <a:solidFill>
              <a:srgbClr val="C084F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863840" y="4434840"/>
            <a:ext cx="274320" cy="0"/>
          </a:xfrm>
          <a:prstGeom prst="line">
            <a:avLst/>
          </a:prstGeom>
          <a:ln w="2540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692640" y="4434840"/>
            <a:ext cx="274320" cy="0"/>
          </a:xfrm>
          <a:prstGeom prst="line">
            <a:avLst/>
          </a:prstGeom>
          <a:ln w="2540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971800" y="50749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FBBF24"/>
                </a:solidFill>
                <a:latin typeface="Calibri"/>
              </a:rPr>
              <a:t>No: Picker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5303520"/>
            <a:ext cx="2286000" cy="54864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C084FC"/>
                </a:solidFill>
                <a:latin typeface="Calibri"/>
              </a:rPr>
              <a:t>Background Prefetch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017520" y="5303520"/>
            <a:ext cx="2011680" cy="54864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2E8F0"/>
                </a:solidFill>
                <a:latin typeface="Calibri"/>
              </a:rPr>
              <a:t>fetchGA4Analytics()
Immediate data fetch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303520" y="5303520"/>
            <a:ext cx="2286000" cy="54864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2E8F0"/>
                </a:solidFill>
                <a:latin typeface="Calibri"/>
              </a:rPr>
              <a:t>fetchAndStoreSearchConsole()
Keywords to D1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863840" y="5303520"/>
            <a:ext cx="2103120" cy="54864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34D399"/>
                </a:solidFill>
                <a:latin typeface="Calibri"/>
              </a:rPr>
              <a:t>Data ready on
next dashboard load</a:t>
            </a:r>
          </a:p>
        </p:txBody>
      </p:sp>
      <p:cxnSp>
        <p:nvCxnSpPr>
          <p:cNvPr id="44" name="Connector 43"/>
          <p:cNvCxnSpPr/>
          <p:nvPr/>
        </p:nvCxnSpPr>
        <p:spPr>
          <a:xfrm flipH="1">
            <a:off x="1600200" y="4754880"/>
            <a:ext cx="9144000" cy="548640"/>
          </a:xfrm>
          <a:prstGeom prst="line">
            <a:avLst/>
          </a:prstGeom>
          <a:ln w="2540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743200" y="5577840"/>
            <a:ext cx="274320" cy="0"/>
          </a:xfrm>
          <a:prstGeom prst="line">
            <a:avLst/>
          </a:prstGeom>
          <a:ln w="25400">
            <a:solidFill>
              <a:srgbClr val="C084F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5029200" y="5577840"/>
            <a:ext cx="274320" cy="0"/>
          </a:xfrm>
          <a:prstGeom prst="line">
            <a:avLst/>
          </a:prstGeom>
          <a:ln w="25400">
            <a:solidFill>
              <a:srgbClr val="C084F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589520" y="5577840"/>
            <a:ext cx="274320" cy="0"/>
          </a:xfrm>
          <a:prstGeom prst="line">
            <a:avLst/>
          </a:prstGeom>
          <a:ln w="2540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274320" y="6126480"/>
            <a:ext cx="3657600" cy="457200"/>
          </a:xfrm>
          <a:prstGeom prst="roundRect">
            <a:avLst/>
          </a:prstGeom>
          <a:solidFill>
            <a:srgbClr val="0F111A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BBF24"/>
                </a:solidFill>
                <a:latin typeface="Calibri"/>
              </a:rPr>
              <a:t>GATED: Google integration requires a paid plan (Pro/Agency)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3. Nightly Data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94A3B8"/>
                </a:solidFill>
                <a:latin typeface="Calibri"/>
              </a:rPr>
              <a:t>Scheduled audit &gt; Sitemap crawl &gt; SEO checks &gt; A11y &gt; Broken links &gt; AI Readiness &gt; Store to D1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463040"/>
            <a:ext cx="1463040" cy="594360"/>
          </a:xfrm>
          <a:prstGeom prst="roundRect">
            <a:avLst/>
          </a:prstGeom>
          <a:solidFill>
            <a:srgbClr val="6366F1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Cron Trigger
(wrangler.toml)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65960" y="1463040"/>
            <a:ext cx="1463040" cy="59436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2E8F0"/>
                </a:solidFill>
                <a:latin typeface="Calibri"/>
              </a:rPr>
              <a:t>runScheduled
Audit()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1463040"/>
            <a:ext cx="1828800" cy="59436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2E8F0"/>
                </a:solidFill>
                <a:latin typeface="Calibri"/>
              </a:rPr>
              <a:t>Query D1:
All active properties
(filter expired trials)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0" y="1463040"/>
            <a:ext cx="1463040" cy="59436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2E8F0"/>
                </a:solidFill>
                <a:latin typeface="Calibri"/>
              </a:rPr>
              <a:t>Batch 5
properties
at a 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1463040"/>
            <a:ext cx="1463040" cy="59436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2E8F0"/>
                </a:solidFill>
                <a:latin typeface="Calibri"/>
              </a:rPr>
              <a:t>runFullSitemap
Audit(domain)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737360" y="1760220"/>
            <a:ext cx="228600" cy="0"/>
          </a:xfrm>
          <a:prstGeom prst="line">
            <a:avLst/>
          </a:prstGeom>
          <a:ln w="25400">
            <a:solidFill>
              <a:srgbClr val="6366F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429000" y="1760220"/>
            <a:ext cx="228600" cy="0"/>
          </a:xfrm>
          <a:prstGeom prst="line">
            <a:avLst/>
          </a:prstGeom>
          <a:ln w="25400">
            <a:solidFill>
              <a:srgbClr val="6366F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486400" y="1760220"/>
            <a:ext cx="228600" cy="0"/>
          </a:xfrm>
          <a:prstGeom prst="line">
            <a:avLst/>
          </a:prstGeom>
          <a:ln w="25400">
            <a:solidFill>
              <a:srgbClr val="6366F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178040" y="1760220"/>
            <a:ext cx="228600" cy="0"/>
          </a:xfrm>
          <a:prstGeom prst="line">
            <a:avLst/>
          </a:prstGeom>
          <a:ln w="25400">
            <a:solidFill>
              <a:srgbClr val="6366F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74320" y="2468880"/>
            <a:ext cx="1463040" cy="59436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2E8F0"/>
                </a:solidFill>
                <a:latin typeface="Calibri"/>
              </a:rPr>
              <a:t>Fetch
robots.txt
(find sitemap)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65960" y="2468880"/>
            <a:ext cx="1463040" cy="59436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2E8F0"/>
                </a:solidFill>
                <a:latin typeface="Calibri"/>
              </a:rPr>
              <a:t>Parse Sitemap
XML (recursive
index support)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2468880"/>
            <a:ext cx="1463040" cy="59436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2E8F0"/>
                </a:solidFill>
                <a:latin typeface="Calibri"/>
              </a:rPr>
              <a:t>Deduplicate
URLs
(max 500)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49240" y="2468880"/>
            <a:ext cx="1828800" cy="59436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2E8F0"/>
                </a:solidFill>
                <a:latin typeface="Calibri"/>
              </a:rPr>
              <a:t>Batch Audit Pages
(10 at a time)
Title, Desc, H1, Schema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2468880"/>
            <a:ext cx="1463040" cy="59436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2E8F0"/>
                </a:solidFill>
                <a:latin typeface="Calibri"/>
              </a:rPr>
              <a:t>Collect All
Internal Links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1005840" y="2057400"/>
            <a:ext cx="7132320" cy="411480"/>
          </a:xfrm>
          <a:prstGeom prst="line">
            <a:avLst/>
          </a:prstGeom>
          <a:ln w="25400">
            <a:solidFill>
              <a:srgbClr val="6366F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737360" y="2766060"/>
            <a:ext cx="228600" cy="0"/>
          </a:xfrm>
          <a:prstGeom prst="line">
            <a:avLst/>
          </a:prstGeom>
          <a:ln w="25400">
            <a:solidFill>
              <a:srgbClr val="6366F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429000" y="2766060"/>
            <a:ext cx="228600" cy="0"/>
          </a:xfrm>
          <a:prstGeom prst="line">
            <a:avLst/>
          </a:prstGeom>
          <a:ln w="25400">
            <a:solidFill>
              <a:srgbClr val="6366F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120640" y="2766060"/>
            <a:ext cx="228600" cy="0"/>
          </a:xfrm>
          <a:prstGeom prst="line">
            <a:avLst/>
          </a:prstGeom>
          <a:ln w="25400">
            <a:solidFill>
              <a:srgbClr val="6366F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178040" y="2766060"/>
            <a:ext cx="228600" cy="0"/>
          </a:xfrm>
          <a:prstGeom prst="line">
            <a:avLst/>
          </a:prstGeom>
          <a:ln w="25400">
            <a:solidFill>
              <a:srgbClr val="6366F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274320" y="3474720"/>
            <a:ext cx="1463040" cy="59436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2E8F0"/>
                </a:solidFill>
                <a:latin typeface="Calibri"/>
              </a:rPr>
              <a:t>Check Broken
Links (HTTP
status, max 100)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3474720"/>
            <a:ext cx="1463040" cy="59436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C084FC"/>
                </a:solidFill>
                <a:latin typeface="Calibri"/>
              </a:rPr>
              <a:t>AI Readiness
Check (robots
schema, etc.)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0" y="3474720"/>
            <a:ext cx="1463040" cy="59436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2E8F0"/>
                </a:solidFill>
                <a:latin typeface="Calibri"/>
              </a:rPr>
              <a:t>Generate SEO
Issue List
(severity-ranked)</a:t>
            </a:r>
          </a:p>
        </p:txBody>
      </p:sp>
      <p:sp>
        <p:nvSpPr>
          <p:cNvPr id="26" name="Can 25"/>
          <p:cNvSpPr/>
          <p:nvPr/>
        </p:nvSpPr>
        <p:spPr>
          <a:xfrm>
            <a:off x="5349240" y="3474720"/>
            <a:ext cx="1463040" cy="594360"/>
          </a:xfrm>
          <a:prstGeom prst="can">
            <a:avLst/>
          </a:prstGeom>
          <a:solidFill>
            <a:srgbClr val="131624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E2E8F0"/>
                </a:solidFill>
                <a:latin typeface="Calibri"/>
              </a:rPr>
              <a:t>Store in D1
audits, issues
broken_links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40880" y="3474720"/>
            <a:ext cx="1463040" cy="59436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C084FC"/>
                </a:solidFill>
                <a:latin typeface="Calibri"/>
              </a:rPr>
              <a:t>Generate AI
Suggestions
(Workers AI)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1005840" y="3063240"/>
            <a:ext cx="7132320" cy="411480"/>
          </a:xfrm>
          <a:prstGeom prst="line">
            <a:avLst/>
          </a:prstGeom>
          <a:ln w="25400">
            <a:solidFill>
              <a:srgbClr val="F8717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737360" y="3771900"/>
            <a:ext cx="228600" cy="0"/>
          </a:xfrm>
          <a:prstGeom prst="line">
            <a:avLst/>
          </a:prstGeom>
          <a:ln w="25400">
            <a:solidFill>
              <a:srgbClr val="C084F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429000" y="3771900"/>
            <a:ext cx="228600" cy="0"/>
          </a:xfrm>
          <a:prstGeom prst="line">
            <a:avLst/>
          </a:prstGeom>
          <a:ln w="25400">
            <a:solidFill>
              <a:srgbClr val="6366F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5120640" y="3771900"/>
            <a:ext cx="228600" cy="0"/>
          </a:xfrm>
          <a:prstGeom prst="line">
            <a:avLst/>
          </a:prstGeom>
          <a:ln w="25400">
            <a:solidFill>
              <a:srgbClr val="6366F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812280" y="3771900"/>
            <a:ext cx="228600" cy="0"/>
          </a:xfrm>
          <a:prstGeom prst="line">
            <a:avLst/>
          </a:prstGeom>
          <a:ln w="25400">
            <a:solidFill>
              <a:srgbClr val="C084F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274320" y="4480560"/>
            <a:ext cx="1828800" cy="59436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2E8F0"/>
                </a:solidFill>
                <a:latin typeface="Calibri"/>
              </a:rPr>
              <a:t>PageSpeed Insights
(CrUX or Lighthouse)</a:t>
            </a:r>
          </a:p>
        </p:txBody>
      </p:sp>
      <p:sp>
        <p:nvSpPr>
          <p:cNvPr id="34" name="Can 33"/>
          <p:cNvSpPr/>
          <p:nvPr/>
        </p:nvSpPr>
        <p:spPr>
          <a:xfrm>
            <a:off x="2331720" y="4480560"/>
            <a:ext cx="1828800" cy="594360"/>
          </a:xfrm>
          <a:prstGeom prst="can">
            <a:avLst/>
          </a:prstGeom>
          <a:solidFill>
            <a:srgbClr val="131624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E2E8F0"/>
                </a:solidFill>
                <a:latin typeface="Calibri"/>
              </a:rPr>
              <a:t>performance_history
(LCP, FCP, CLS, INP, TTFB)</a:t>
            </a:r>
          </a:p>
        </p:txBody>
      </p:sp>
      <p:sp>
        <p:nvSpPr>
          <p:cNvPr id="35" name="Can 34"/>
          <p:cNvSpPr/>
          <p:nvPr/>
        </p:nvSpPr>
        <p:spPr>
          <a:xfrm>
            <a:off x="4389120" y="4480560"/>
            <a:ext cx="1828800" cy="594360"/>
          </a:xfrm>
          <a:prstGeom prst="can">
            <a:avLst/>
          </a:prstGeom>
          <a:solidFill>
            <a:srgbClr val="131624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E2E8F0"/>
                </a:solidFill>
                <a:latin typeface="Calibri"/>
              </a:rPr>
              <a:t>performance_snapshots
(CWV + CF + GA4 + A11y)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46520" y="4480560"/>
            <a:ext cx="1828800" cy="59436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2E8F0"/>
                </a:solidFill>
                <a:latin typeface="Calibri"/>
              </a:rPr>
              <a:t>Search Console:
fetchAndStore
SearchConsole()</a:t>
            </a:r>
          </a:p>
        </p:txBody>
      </p:sp>
      <p:sp>
        <p:nvSpPr>
          <p:cNvPr id="37" name="Can 36"/>
          <p:cNvSpPr/>
          <p:nvPr/>
        </p:nvSpPr>
        <p:spPr>
          <a:xfrm>
            <a:off x="8503920" y="4480560"/>
            <a:ext cx="1463040" cy="594360"/>
          </a:xfrm>
          <a:prstGeom prst="can">
            <a:avLst/>
          </a:prstGeom>
          <a:solidFill>
            <a:srgbClr val="131624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E2E8F0"/>
                </a:solidFill>
                <a:latin typeface="Calibri"/>
              </a:rPr>
              <a:t>keywords
table
(top 50)</a:t>
            </a:r>
          </a:p>
        </p:txBody>
      </p:sp>
      <p:cxnSp>
        <p:nvCxnSpPr>
          <p:cNvPr id="38" name="Connector 37"/>
          <p:cNvCxnSpPr/>
          <p:nvPr/>
        </p:nvCxnSpPr>
        <p:spPr>
          <a:xfrm flipH="1">
            <a:off x="1188720" y="4069080"/>
            <a:ext cx="4892040" cy="411480"/>
          </a:xfrm>
          <a:prstGeom prst="line">
            <a:avLst/>
          </a:prstGeom>
          <a:ln w="25400">
            <a:solidFill>
              <a:srgbClr val="6366F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103120" y="4777740"/>
            <a:ext cx="228600" cy="0"/>
          </a:xfrm>
          <a:prstGeom prst="line">
            <a:avLst/>
          </a:prstGeom>
          <a:ln w="2540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160520" y="4777740"/>
            <a:ext cx="228600" cy="0"/>
          </a:xfrm>
          <a:prstGeom prst="line">
            <a:avLst/>
          </a:prstGeom>
          <a:ln w="2540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6217920" y="4777740"/>
            <a:ext cx="228600" cy="0"/>
          </a:xfrm>
          <a:prstGeom prst="line">
            <a:avLst/>
          </a:prstGeom>
          <a:ln w="2540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275320" y="4777740"/>
            <a:ext cx="228600" cy="0"/>
          </a:xfrm>
          <a:prstGeom prst="line">
            <a:avLst/>
          </a:prstGeom>
          <a:ln w="2540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274320" y="5486400"/>
            <a:ext cx="2926080" cy="1005840"/>
          </a:xfrm>
          <a:prstGeom prst="roundRect">
            <a:avLst/>
          </a:prstGeom>
          <a:solidFill>
            <a:srgbClr val="0F111A"/>
          </a:solidFill>
          <a:ln w="19050">
            <a:solidFill>
              <a:srgbClr val="1E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94A3B8"/>
                </a:solidFill>
                <a:latin typeface="Calibri"/>
              </a:rPr>
              <a:t>SEO Checks per Page:</a:t>
            </a:r>
          </a:p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Title (30-60 chars), Meta desc (120-160)</a:t>
            </a:r>
          </a:p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H1 (exactly 1), Schema.org JSON-LD</a:t>
            </a:r>
          </a:p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Image alt text, Internal link graph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383280" y="5486400"/>
            <a:ext cx="2926080" cy="1005840"/>
          </a:xfrm>
          <a:prstGeom prst="roundRect">
            <a:avLst/>
          </a:prstGeom>
          <a:solidFill>
            <a:srgbClr val="0F111A"/>
          </a:solidFill>
          <a:ln w="19050">
            <a:solidFill>
              <a:srgbClr val="1E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94A3B8"/>
                </a:solidFill>
                <a:latin typeface="Calibri"/>
              </a:rPr>
              <a:t>AI Readiness Checks:</a:t>
            </a:r>
          </a:p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robots.txt AI bot directives</a:t>
            </a:r>
          </a:p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Schema.org structured data coverage</a:t>
            </a:r>
          </a:p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Content accessibility for LLMs</a:t>
            </a:r>
          </a:p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Domain-level readiness score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92240" y="5486400"/>
            <a:ext cx="2743200" cy="1005840"/>
          </a:xfrm>
          <a:prstGeom prst="roundRect">
            <a:avLst/>
          </a:prstGeom>
          <a:solidFill>
            <a:srgbClr val="0F111A"/>
          </a:solidFill>
          <a:ln w="19050">
            <a:solidFill>
              <a:srgbClr val="1E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94A3B8"/>
                </a:solidFill>
                <a:latin typeface="Calibri"/>
              </a:rPr>
              <a:t>PageSpeed Insights:</a:t>
            </a:r>
          </a:p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Try bare domain, then www</a:t>
            </a:r>
          </a:p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CrUX (origin/URL) preferred</a:t>
            </a:r>
          </a:p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Lighthouse lab data fallback</a:t>
            </a:r>
          </a:p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Accessibility score extracted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418320" y="5486400"/>
            <a:ext cx="2560320" cy="1005840"/>
          </a:xfrm>
          <a:prstGeom prst="roundRect">
            <a:avLst/>
          </a:prstGeom>
          <a:solidFill>
            <a:srgbClr val="0F111A"/>
          </a:solidFill>
          <a:ln w="19050">
            <a:solidFill>
              <a:srgbClr val="1E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94A3B8"/>
                </a:solidFill>
                <a:latin typeface="Calibri"/>
              </a:rPr>
              <a:t>Issue Lifecycle:</a:t>
            </a:r>
          </a:p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first_seen -&gt; open</a:t>
            </a:r>
          </a:p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auto-fixed (next crawl)</a:t>
            </a:r>
          </a:p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manually_fixed (user mark)</a:t>
            </a:r>
          </a:p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reactivated (regressed)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4. Dashboard Data Loading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94A3B8"/>
                </a:solidFill>
                <a:latin typeface="Calibri"/>
              </a:rPr>
              <a:t>Login &gt; /api/me &gt; /api/properties &gt; Portfolio overview &gt; Property detail &gt; Tab loading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463040"/>
            <a:ext cx="1417320" cy="548640"/>
          </a:xfrm>
          <a:prstGeom prst="roundRect">
            <a:avLst/>
          </a:prstGeom>
          <a:solidFill>
            <a:srgbClr val="6366F1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Dashboard
Page Load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20240" y="1463040"/>
            <a:ext cx="1417320" cy="54864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2E8F0"/>
                </a:solidFill>
                <a:latin typeface="Calibri"/>
              </a:rPr>
              <a:t>GET /api/me
Resolve user
plan, billing</a:t>
            </a:r>
          </a:p>
        </p:txBody>
      </p:sp>
      <p:sp>
        <p:nvSpPr>
          <p:cNvPr id="6" name="Diamond 5"/>
          <p:cNvSpPr/>
          <p:nvPr/>
        </p:nvSpPr>
        <p:spPr>
          <a:xfrm>
            <a:off x="3566160" y="1463040"/>
            <a:ext cx="1188720" cy="868680"/>
          </a:xfrm>
          <a:prstGeom prst="diamond">
            <a:avLst/>
          </a:prstGeom>
          <a:solidFill>
            <a:srgbClr val="131624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E2E8F0"/>
                </a:solidFill>
                <a:latin typeface="Calibri"/>
              </a:rPr>
              <a:t>Trial
Expired?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2560320"/>
            <a:ext cx="1188720" cy="45720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BBF24"/>
                </a:solidFill>
                <a:latin typeface="Calibri"/>
              </a:rPr>
              <a:t>Lockout:
Upgrade UI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60520" y="2331720"/>
            <a:ext cx="0" cy="228600"/>
          </a:xfrm>
          <a:prstGeom prst="line">
            <a:avLst/>
          </a:prstGeom>
          <a:ln w="25400">
            <a:solidFill>
              <a:srgbClr val="FBBF2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297680" y="235000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FBBF24"/>
                </a:solidFill>
                <a:latin typeface="Calibri"/>
              </a:rPr>
              <a:t>Yes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83480" y="1463040"/>
            <a:ext cx="1645920" cy="54864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2E8F0"/>
                </a:solidFill>
                <a:latin typeface="Calibri"/>
              </a:rPr>
              <a:t>resolveEffectiveUser
(team member?
use owner's data)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4754880" y="1737360"/>
            <a:ext cx="228600" cy="160020"/>
          </a:xfrm>
          <a:prstGeom prst="line">
            <a:avLst/>
          </a:prstGeom>
          <a:ln w="2540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73168" y="169621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34D399"/>
                </a:solidFill>
                <a:latin typeface="Calibri"/>
              </a:rPr>
              <a:t>No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1463040"/>
            <a:ext cx="1417320" cy="54864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2E8F0"/>
                </a:solidFill>
                <a:latin typeface="Calibri"/>
              </a:rPr>
              <a:t>GET
/api/properties
List all sites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03920" y="1463040"/>
            <a:ext cx="1417320" cy="54864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2E8F0"/>
                </a:solidFill>
                <a:latin typeface="Calibri"/>
              </a:rPr>
              <a:t>GET /api/data
Portfolio
Overview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91640" y="1737360"/>
            <a:ext cx="228600" cy="0"/>
          </a:xfrm>
          <a:prstGeom prst="line">
            <a:avLst/>
          </a:prstGeom>
          <a:ln w="25400">
            <a:solidFill>
              <a:srgbClr val="6366F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337560" y="1737360"/>
            <a:ext cx="228600" cy="160020"/>
          </a:xfrm>
          <a:prstGeom prst="line">
            <a:avLst/>
          </a:prstGeom>
          <a:ln w="25400">
            <a:solidFill>
              <a:srgbClr val="6366F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629400" y="1737360"/>
            <a:ext cx="228600" cy="0"/>
          </a:xfrm>
          <a:prstGeom prst="line">
            <a:avLst/>
          </a:prstGeom>
          <a:ln w="25400">
            <a:solidFill>
              <a:srgbClr val="6366F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275320" y="1737360"/>
            <a:ext cx="228600" cy="0"/>
          </a:xfrm>
          <a:prstGeom prst="line">
            <a:avLst/>
          </a:prstGeom>
          <a:ln w="25400">
            <a:solidFill>
              <a:srgbClr val="6366F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74320" y="2743200"/>
            <a:ext cx="1645920" cy="54864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2E8F0"/>
                </a:solidFill>
                <a:latin typeface="Calibri"/>
              </a:rPr>
              <a:t>Click Property
GET /api/data
?property=ID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1097280" y="2011680"/>
            <a:ext cx="8115300" cy="731520"/>
          </a:xfrm>
          <a:prstGeom prst="line">
            <a:avLst/>
          </a:prstGeom>
          <a:ln w="25400">
            <a:solidFill>
              <a:srgbClr val="6366F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74320" y="3566160"/>
            <a:ext cx="1691640" cy="118872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E2E8F0"/>
                </a:solidFill>
                <a:latin typeface="Calibri"/>
              </a:rPr>
              <a:t>SEO Tab</a:t>
            </a:r>
          </a:p>
          <a:p>
            <a:pPr algn="l"/>
            <a:r>
              <a:rPr sz="900" b="0">
                <a:solidFill>
                  <a:srgbClr val="E2E8F0"/>
                </a:solidFill>
                <a:latin typeface="Calibri"/>
              </a:rPr>
              <a:t>/api/seo-stats</a:t>
            </a:r>
          </a:p>
          <a:p>
            <a:pPr algn="l"/>
            <a:r>
              <a:rPr sz="900" b="0">
                <a:solidFill>
                  <a:srgbClr val="E2E8F0"/>
                </a:solidFill>
                <a:latin typeface="Calibri"/>
              </a:rPr>
              <a:t>/api/site-health</a:t>
            </a:r>
          </a:p>
          <a:p>
            <a:pPr algn="l"/>
            <a:r>
              <a:rPr sz="900" b="0">
                <a:solidFill>
                  <a:srgbClr val="E2E8F0"/>
                </a:solidFill>
                <a:latin typeface="Calibri"/>
              </a:rPr>
              <a:t>Issues, broken links</a:t>
            </a:r>
          </a:p>
          <a:p>
            <a:pPr algn="l"/>
            <a:r>
              <a:rPr sz="900" b="0">
                <a:solidFill>
                  <a:srgbClr val="E2E8F0"/>
                </a:solidFill>
                <a:latin typeface="Calibri"/>
              </a:rPr>
              <a:t>Fixed this week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97280" y="3291840"/>
            <a:ext cx="22860" cy="274320"/>
          </a:xfrm>
          <a:prstGeom prst="line">
            <a:avLst/>
          </a:prstGeom>
          <a:ln w="25400">
            <a:solidFill>
              <a:srgbClr val="6366F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2130552" y="3566160"/>
            <a:ext cx="1691640" cy="118872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E2E8F0"/>
                </a:solidFill>
                <a:latin typeface="Calibri"/>
              </a:rPr>
              <a:t>Performance Tab</a:t>
            </a:r>
          </a:p>
          <a:p>
            <a:pPr algn="l"/>
            <a:r>
              <a:rPr sz="900" b="0">
                <a:solidFill>
                  <a:srgbClr val="E2E8F0"/>
                </a:solidFill>
                <a:latin typeface="Calibri"/>
              </a:rPr>
              <a:t>/api/performance</a:t>
            </a:r>
          </a:p>
          <a:p>
            <a:pPr algn="l"/>
            <a:r>
              <a:rPr sz="900" b="0">
                <a:solidFill>
                  <a:srgbClr val="E2E8F0"/>
                </a:solidFill>
                <a:latin typeface="Calibri"/>
              </a:rPr>
              <a:t>Cloudflare traffic</a:t>
            </a:r>
          </a:p>
          <a:p>
            <a:pPr algn="l"/>
            <a:r>
              <a:rPr sz="900" b="0">
                <a:solidFill>
                  <a:srgbClr val="E2E8F0"/>
                </a:solidFill>
                <a:latin typeface="Calibri"/>
              </a:rPr>
              <a:t>GA4 analytics</a:t>
            </a:r>
          </a:p>
          <a:p>
            <a:pPr algn="l"/>
            <a:r>
              <a:rPr sz="900" b="0">
                <a:solidFill>
                  <a:srgbClr val="E2E8F0"/>
                </a:solidFill>
                <a:latin typeface="Calibri"/>
              </a:rPr>
              <a:t>Core Web Vitals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097280" y="3291840"/>
            <a:ext cx="1879092" cy="274320"/>
          </a:xfrm>
          <a:prstGeom prst="line">
            <a:avLst/>
          </a:prstGeom>
          <a:ln w="2540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3986784" y="3566160"/>
            <a:ext cx="1691640" cy="118872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E2E8F0"/>
                </a:solidFill>
                <a:latin typeface="Calibri"/>
              </a:rPr>
              <a:t>Search Console</a:t>
            </a:r>
          </a:p>
          <a:p>
            <a:pPr algn="l"/>
            <a:r>
              <a:rPr sz="900" b="0">
                <a:solidFill>
                  <a:srgbClr val="E2E8F0"/>
                </a:solidFill>
                <a:latin typeface="Calibri"/>
              </a:rPr>
              <a:t>/api/search-console</a:t>
            </a:r>
          </a:p>
          <a:p>
            <a:pPr algn="l"/>
            <a:r>
              <a:rPr sz="900" b="0">
                <a:solidFill>
                  <a:srgbClr val="E2E8F0"/>
                </a:solidFill>
                <a:latin typeface="Calibri"/>
              </a:rPr>
              <a:t>Top queries + pages</a:t>
            </a:r>
          </a:p>
          <a:p>
            <a:pPr algn="l"/>
            <a:r>
              <a:rPr sz="900" b="0">
                <a:solidFill>
                  <a:srgbClr val="E2E8F0"/>
                </a:solidFill>
                <a:latin typeface="Calibri"/>
              </a:rPr>
              <a:t>Indexing status</a:t>
            </a:r>
          </a:p>
          <a:p>
            <a:pPr algn="l"/>
            <a:r>
              <a:rPr sz="900" b="0">
                <a:solidFill>
                  <a:srgbClr val="E2E8F0"/>
                </a:solidFill>
                <a:latin typeface="Calibri"/>
              </a:rPr>
              <a:t>Position changes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97280" y="3291840"/>
            <a:ext cx="3735324" cy="274320"/>
          </a:xfrm>
          <a:prstGeom prst="line">
            <a:avLst/>
          </a:prstGeom>
          <a:ln w="2540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843016" y="3566160"/>
            <a:ext cx="1691640" cy="118872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E2E8F0"/>
                </a:solidFill>
                <a:latin typeface="Calibri"/>
              </a:rPr>
              <a:t>GA4 Analytics</a:t>
            </a:r>
          </a:p>
          <a:p>
            <a:pPr algn="l"/>
            <a:r>
              <a:rPr sz="900" b="0">
                <a:solidFill>
                  <a:srgbClr val="E2E8F0"/>
                </a:solidFill>
                <a:latin typeface="Calibri"/>
              </a:rPr>
              <a:t>/api/performance</a:t>
            </a:r>
          </a:p>
          <a:p>
            <a:pPr algn="l"/>
            <a:r>
              <a:rPr sz="900" b="0">
                <a:solidFill>
                  <a:srgbClr val="E2E8F0"/>
                </a:solidFill>
                <a:latin typeface="Calibri"/>
              </a:rPr>
              <a:t>Sessions, users</a:t>
            </a:r>
          </a:p>
          <a:p>
            <a:pPr algn="l"/>
            <a:r>
              <a:rPr sz="900" b="0">
                <a:solidFill>
                  <a:srgbClr val="E2E8F0"/>
                </a:solidFill>
                <a:latin typeface="Calibri"/>
              </a:rPr>
              <a:t>Bounce rate</a:t>
            </a:r>
          </a:p>
          <a:p>
            <a:pPr algn="l"/>
            <a:r>
              <a:rPr sz="900" b="0">
                <a:solidFill>
                  <a:srgbClr val="E2E8F0"/>
                </a:solidFill>
                <a:latin typeface="Calibri"/>
              </a:rPr>
              <a:t>Top pages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097280" y="3291840"/>
            <a:ext cx="5591556" cy="274320"/>
          </a:xfrm>
          <a:prstGeom prst="line">
            <a:avLst/>
          </a:prstGeom>
          <a:ln w="2540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699248" y="3566160"/>
            <a:ext cx="1691640" cy="118872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E2E8F0"/>
                </a:solidFill>
                <a:latin typeface="Calibri"/>
              </a:rPr>
              <a:t>Accessibility</a:t>
            </a:r>
          </a:p>
          <a:p>
            <a:pPr algn="l"/>
            <a:r>
              <a:rPr sz="900" b="0">
                <a:solidFill>
                  <a:srgbClr val="E2E8F0"/>
                </a:solidFill>
                <a:latin typeface="Calibri"/>
              </a:rPr>
              <a:t>/api/accessibility</a:t>
            </a:r>
          </a:p>
          <a:p>
            <a:pPr algn="l"/>
            <a:r>
              <a:rPr sz="900" b="0">
                <a:solidFill>
                  <a:srgbClr val="E2E8F0"/>
                </a:solidFill>
                <a:latin typeface="Calibri"/>
              </a:rPr>
              <a:t>Lighthouse a11y score</a:t>
            </a:r>
          </a:p>
          <a:p>
            <a:pPr algn="l"/>
            <a:r>
              <a:rPr sz="900" b="0">
                <a:solidFill>
                  <a:srgbClr val="E2E8F0"/>
                </a:solidFill>
                <a:latin typeface="Calibri"/>
              </a:rPr>
              <a:t>Failing audits</a:t>
            </a:r>
          </a:p>
          <a:p>
            <a:pPr algn="l"/>
            <a:r>
              <a:rPr sz="900" b="0">
                <a:solidFill>
                  <a:srgbClr val="E2E8F0"/>
                </a:solidFill>
                <a:latin typeface="Calibri"/>
              </a:rPr>
              <a:t>Element selectors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097280" y="3291840"/>
            <a:ext cx="7447788" cy="274320"/>
          </a:xfrm>
          <a:prstGeom prst="line">
            <a:avLst/>
          </a:prstGeom>
          <a:ln w="25400">
            <a:solidFill>
              <a:srgbClr val="6366F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555480" y="3566160"/>
            <a:ext cx="1691640" cy="118872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E2E8F0"/>
                </a:solidFill>
                <a:latin typeface="Calibri"/>
              </a:rPr>
              <a:t>AI Readiness</a:t>
            </a:r>
          </a:p>
          <a:p>
            <a:pPr algn="l"/>
            <a:r>
              <a:rPr sz="900" b="0">
                <a:solidFill>
                  <a:srgbClr val="E2E8F0"/>
                </a:solidFill>
                <a:latin typeface="Calibri"/>
              </a:rPr>
              <a:t>/api/ai-readiness</a:t>
            </a:r>
          </a:p>
          <a:p>
            <a:pPr algn="l"/>
            <a:r>
              <a:rPr sz="900" b="0">
                <a:solidFill>
                  <a:srgbClr val="E2E8F0"/>
                </a:solidFill>
                <a:latin typeface="Calibri"/>
              </a:rPr>
              <a:t>Bot directives</a:t>
            </a:r>
          </a:p>
          <a:p>
            <a:pPr algn="l"/>
            <a:r>
              <a:rPr sz="900" b="0">
                <a:solidFill>
                  <a:srgbClr val="E2E8F0"/>
                </a:solidFill>
                <a:latin typeface="Calibri"/>
              </a:rPr>
              <a:t>Schema coverage</a:t>
            </a:r>
          </a:p>
          <a:p>
            <a:pPr algn="l"/>
            <a:r>
              <a:rPr sz="900" b="0">
                <a:solidFill>
                  <a:srgbClr val="E2E8F0"/>
                </a:solidFill>
                <a:latin typeface="Calibri"/>
              </a:rPr>
              <a:t>Readiness score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97280" y="3291840"/>
            <a:ext cx="9304020" cy="274320"/>
          </a:xfrm>
          <a:prstGeom prst="line">
            <a:avLst/>
          </a:prstGeom>
          <a:ln w="25400">
            <a:solidFill>
              <a:srgbClr val="C084F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1411712" y="3566160"/>
            <a:ext cx="1691640" cy="118872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E2E8F0"/>
                </a:solidFill>
                <a:latin typeface="Calibri"/>
              </a:rPr>
              <a:t>Keywords</a:t>
            </a:r>
          </a:p>
          <a:p>
            <a:pPr algn="l"/>
            <a:r>
              <a:rPr sz="900" b="0">
                <a:solidFill>
                  <a:srgbClr val="E2E8F0"/>
                </a:solidFill>
                <a:latin typeface="Calibri"/>
              </a:rPr>
              <a:t>/api/keywords</a:t>
            </a:r>
          </a:p>
          <a:p>
            <a:pPr algn="l"/>
            <a:r>
              <a:rPr sz="900" b="0">
                <a:solidFill>
                  <a:srgbClr val="E2E8F0"/>
                </a:solidFill>
                <a:latin typeface="Calibri"/>
              </a:rPr>
              <a:t>Top 50 queries</a:t>
            </a:r>
          </a:p>
          <a:p>
            <a:pPr algn="l"/>
            <a:r>
              <a:rPr sz="900" b="0">
                <a:solidFill>
                  <a:srgbClr val="E2E8F0"/>
                </a:solidFill>
                <a:latin typeface="Calibri"/>
              </a:rPr>
              <a:t>Position tracking</a:t>
            </a:r>
          </a:p>
          <a:p>
            <a:pPr algn="l"/>
            <a:r>
              <a:rPr sz="900" b="0">
                <a:solidFill>
                  <a:srgbClr val="E2E8F0"/>
                </a:solidFill>
                <a:latin typeface="Calibri"/>
              </a:rPr>
              <a:t>Week-over-week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97280" y="3291840"/>
            <a:ext cx="11160252" cy="274320"/>
          </a:xfrm>
          <a:prstGeom prst="line">
            <a:avLst/>
          </a:prstGeom>
          <a:ln w="2540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274320" y="5120640"/>
            <a:ext cx="3840480" cy="1005840"/>
          </a:xfrm>
          <a:prstGeom prst="roundRect">
            <a:avLst/>
          </a:prstGeom>
          <a:solidFill>
            <a:srgbClr val="0F111A"/>
          </a:solidFill>
          <a:ln w="19050">
            <a:solidFill>
              <a:srgbClr val="1E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94A3B8"/>
                </a:solidFill>
                <a:latin typeface="Calibri"/>
              </a:rPr>
              <a:t>Credential Resolution (handlers.js):</a:t>
            </a:r>
          </a:p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1. Check D1 property for OAuth refresh token</a:t>
            </a:r>
          </a:p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2. Fall back to env GOOGLE_SERVICE_ACCOUNT</a:t>
            </a:r>
          </a:p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3. Cloudflare: property CF token or env token</a:t>
            </a:r>
          </a:p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4. Resolve effective user for team access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97680" y="5120640"/>
            <a:ext cx="3657600" cy="1005840"/>
          </a:xfrm>
          <a:prstGeom prst="roundRect">
            <a:avLst/>
          </a:prstGeom>
          <a:solidFill>
            <a:srgbClr val="0F111A"/>
          </a:solidFill>
          <a:ln w="19050">
            <a:solidFill>
              <a:srgbClr val="1E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94A3B8"/>
                </a:solidFill>
                <a:latin typeface="Calibri"/>
              </a:rPr>
              <a:t>Caching Strategy:</a:t>
            </a:r>
          </a:p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D1 performance_snapshots (24hr cache)</a:t>
            </a:r>
          </a:p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Stale-while-revalidate pattern</a:t>
            </a:r>
          </a:p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Fresh fetch if GA4 newly configured</a:t>
            </a:r>
          </a:p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KV cache for quick audit results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38160" y="5120640"/>
            <a:ext cx="3840480" cy="1005840"/>
          </a:xfrm>
          <a:prstGeom prst="roundRect">
            <a:avLst/>
          </a:prstGeom>
          <a:solidFill>
            <a:srgbClr val="0F111A"/>
          </a:solidFill>
          <a:ln w="19050">
            <a:solidFill>
              <a:srgbClr val="1E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94A3B8"/>
                </a:solidFill>
                <a:latin typeface="Calibri"/>
              </a:rPr>
              <a:t>Feature Gating by Plan:</a:t>
            </a:r>
          </a:p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Trial: SEO, Performance, basic A11y</a:t>
            </a:r>
          </a:p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Pro ($29/mo): + Google, Cloudflare, SC</a:t>
            </a:r>
          </a:p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Agency ($59/mo): + Team, AI suggestions</a:t>
            </a:r>
          </a:p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AI Readiness: Paid plans only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5. Billing &amp; Plan Gating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94A3B8"/>
                </a:solidFill>
                <a:latin typeface="Calibri"/>
              </a:rPr>
              <a:t>Trial &gt; Expired lockout &gt; Checkout &gt; Stripe webhook &gt; Plan upgrade &gt; Feature unlock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554480"/>
            <a:ext cx="1554480" cy="594360"/>
          </a:xfrm>
          <a:prstGeom prst="roundRect">
            <a:avLst/>
          </a:prstGeom>
          <a:solidFill>
            <a:srgbClr val="6366F1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New User
Signup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03120" y="1554480"/>
            <a:ext cx="1554480" cy="59436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2E8F0"/>
                </a:solidFill>
                <a:latin typeface="Calibri"/>
              </a:rPr>
              <a:t>Plan = 'trial'
trial_ends_at
= +7 days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31920" y="1554480"/>
            <a:ext cx="1554480" cy="59436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2E8F0"/>
                </a:solidFill>
                <a:latin typeface="Calibri"/>
              </a:rPr>
              <a:t>1 Site Allowed
Basic Features
Only</a:t>
            </a:r>
          </a:p>
        </p:txBody>
      </p:sp>
      <p:sp>
        <p:nvSpPr>
          <p:cNvPr id="7" name="Diamond 6"/>
          <p:cNvSpPr/>
          <p:nvPr/>
        </p:nvSpPr>
        <p:spPr>
          <a:xfrm>
            <a:off x="5760720" y="1554480"/>
            <a:ext cx="1280160" cy="914400"/>
          </a:xfrm>
          <a:prstGeom prst="diamond">
            <a:avLst/>
          </a:prstGeom>
          <a:solidFill>
            <a:srgbClr val="131624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E2E8F0"/>
                </a:solidFill>
                <a:latin typeface="Calibri"/>
              </a:rPr>
              <a:t>Trial
Expired?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554480"/>
            <a:ext cx="1554480" cy="59436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BBF24"/>
                </a:solidFill>
                <a:latin typeface="Calibri"/>
              </a:rPr>
              <a:t>LOCKOUT
Only /api/me
/api/billing/*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1554480"/>
            <a:ext cx="1554480" cy="59436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2E8F0"/>
                </a:solidFill>
                <a:latin typeface="Calibri"/>
              </a:rPr>
              <a:t>Show Upgrade
UI in
Dashboard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828800" y="1851660"/>
            <a:ext cx="274320" cy="0"/>
          </a:xfrm>
          <a:prstGeom prst="line">
            <a:avLst/>
          </a:prstGeom>
          <a:ln w="25400">
            <a:solidFill>
              <a:srgbClr val="6366F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657600" y="1851660"/>
            <a:ext cx="274320" cy="0"/>
          </a:xfrm>
          <a:prstGeom prst="line">
            <a:avLst/>
          </a:prstGeom>
          <a:ln w="25400">
            <a:solidFill>
              <a:srgbClr val="6366F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86400" y="1851660"/>
            <a:ext cx="274320" cy="160020"/>
          </a:xfrm>
          <a:prstGeom prst="line">
            <a:avLst/>
          </a:prstGeom>
          <a:ln w="25400">
            <a:solidFill>
              <a:srgbClr val="6366F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040880" y="1851660"/>
            <a:ext cx="274320" cy="160020"/>
          </a:xfrm>
          <a:prstGeom prst="line">
            <a:avLst/>
          </a:prstGeom>
          <a:ln w="25400">
            <a:solidFill>
              <a:srgbClr val="FBBF2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059168" y="178308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FBBF24"/>
                </a:solidFill>
                <a:latin typeface="Calibri"/>
              </a:rPr>
              <a:t>Yes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869680" y="1851660"/>
            <a:ext cx="274320" cy="0"/>
          </a:xfrm>
          <a:prstGeom prst="line">
            <a:avLst/>
          </a:prstGeom>
          <a:ln w="25400">
            <a:solidFill>
              <a:srgbClr val="FBBF2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669280" y="2743200"/>
            <a:ext cx="1371600" cy="45720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2E8F0"/>
                </a:solidFill>
                <a:latin typeface="Calibri"/>
              </a:rPr>
              <a:t>Continue
Using App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6355080" y="2468880"/>
            <a:ext cx="45720" cy="274320"/>
          </a:xfrm>
          <a:prstGeom prst="line">
            <a:avLst/>
          </a:prstGeom>
          <a:ln w="2540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943600" y="248716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34D399"/>
                </a:solidFill>
                <a:latin typeface="Calibri"/>
              </a:rPr>
              <a:t>No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017520"/>
            <a:ext cx="1554480" cy="59436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2E8F0"/>
                </a:solidFill>
                <a:latin typeface="Calibri"/>
              </a:rPr>
              <a:t>POST
/api/billing
/checkout</a:t>
            </a:r>
          </a:p>
        </p:txBody>
      </p:sp>
      <p:sp>
        <p:nvSpPr>
          <p:cNvPr id="20" name="Diamond 19"/>
          <p:cNvSpPr/>
          <p:nvPr/>
        </p:nvSpPr>
        <p:spPr>
          <a:xfrm>
            <a:off x="2103120" y="3017520"/>
            <a:ext cx="1280160" cy="914400"/>
          </a:xfrm>
          <a:prstGeom prst="diamond">
            <a:avLst/>
          </a:prstGeom>
          <a:solidFill>
            <a:srgbClr val="131624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E2E8F0"/>
                </a:solidFill>
                <a:latin typeface="Calibri"/>
              </a:rPr>
              <a:t>Existing
Stripe
Customer?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3017520"/>
            <a:ext cx="1554480" cy="59436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2E8F0"/>
                </a:solidFill>
                <a:latin typeface="Calibri"/>
              </a:rPr>
              <a:t>Create Stripe
Checkout
Session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0" y="3017520"/>
            <a:ext cx="1554480" cy="59436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2E8F0"/>
                </a:solidFill>
                <a:latin typeface="Calibri"/>
              </a:rPr>
              <a:t>302 Redirect
to Stripe
Hosted Page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0" y="3017520"/>
            <a:ext cx="1554480" cy="59436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2E8F0"/>
                </a:solidFill>
                <a:latin typeface="Calibri"/>
              </a:rPr>
              <a:t>User Completes
Payment
(Pro/Agency)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3017520"/>
            <a:ext cx="1554480" cy="59436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34D399"/>
                </a:solidFill>
                <a:latin typeface="Calibri"/>
              </a:rPr>
              <a:t>Redirect to
/dashboard
?billing=success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1051560" y="2148840"/>
            <a:ext cx="8869680" cy="868680"/>
          </a:xfrm>
          <a:prstGeom prst="line">
            <a:avLst/>
          </a:prstGeom>
          <a:ln w="25400">
            <a:solidFill>
              <a:srgbClr val="FBBF2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28800" y="3314700"/>
            <a:ext cx="274320" cy="160020"/>
          </a:xfrm>
          <a:prstGeom prst="line">
            <a:avLst/>
          </a:prstGeom>
          <a:ln w="25400">
            <a:solidFill>
              <a:srgbClr val="6366F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383280" y="3314700"/>
            <a:ext cx="274320" cy="160020"/>
          </a:xfrm>
          <a:prstGeom prst="line">
            <a:avLst/>
          </a:prstGeom>
          <a:ln w="25400">
            <a:solidFill>
              <a:srgbClr val="6366F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212080" y="3314700"/>
            <a:ext cx="274320" cy="0"/>
          </a:xfrm>
          <a:prstGeom prst="line">
            <a:avLst/>
          </a:prstGeom>
          <a:ln w="25400">
            <a:solidFill>
              <a:srgbClr val="6366F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040880" y="3314700"/>
            <a:ext cx="274320" cy="0"/>
          </a:xfrm>
          <a:prstGeom prst="line">
            <a:avLst/>
          </a:prstGeom>
          <a:ln w="2540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869680" y="3314700"/>
            <a:ext cx="274320" cy="0"/>
          </a:xfrm>
          <a:prstGeom prst="line">
            <a:avLst/>
          </a:prstGeom>
          <a:ln w="2540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274320" y="4389120"/>
            <a:ext cx="1554480" cy="59436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2E8F0"/>
                </a:solidFill>
                <a:latin typeface="Calibri"/>
              </a:rPr>
              <a:t>POST /api
/webhooks/stripe
(Signature Verify)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103120" y="4389120"/>
            <a:ext cx="1828800" cy="59436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2E8F0"/>
                </a:solidFill>
                <a:latin typeface="Calibri"/>
              </a:rPr>
              <a:t>checkout.session
.completed
Link Customer ID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06240" y="4389120"/>
            <a:ext cx="1828800" cy="59436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2E8F0"/>
                </a:solidFill>
                <a:latin typeface="Calibri"/>
              </a:rPr>
              <a:t>subscription
.created/updated
Set plan in D1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60" y="4389120"/>
            <a:ext cx="1554480" cy="59436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34D399"/>
                </a:solidFill>
                <a:latin typeface="Calibri"/>
              </a:rPr>
              <a:t>Plan = pro
or agency
Features unlock</a:t>
            </a:r>
          </a:p>
        </p:txBody>
      </p:sp>
      <p:sp>
        <p:nvSpPr>
          <p:cNvPr id="35" name="Can 34"/>
          <p:cNvSpPr/>
          <p:nvPr/>
        </p:nvSpPr>
        <p:spPr>
          <a:xfrm>
            <a:off x="8138160" y="4389120"/>
            <a:ext cx="1554480" cy="594360"/>
          </a:xfrm>
          <a:prstGeom prst="can">
            <a:avLst/>
          </a:prstGeom>
          <a:solidFill>
            <a:srgbClr val="131624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E2E8F0"/>
                </a:solidFill>
                <a:latin typeface="Calibri"/>
              </a:rPr>
              <a:t>D1: users,
subscriptions,
billing_events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1051560" y="3611880"/>
            <a:ext cx="7040880" cy="777240"/>
          </a:xfrm>
          <a:prstGeom prst="line">
            <a:avLst/>
          </a:prstGeom>
          <a:ln w="2540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828800" y="4686300"/>
            <a:ext cx="274320" cy="0"/>
          </a:xfrm>
          <a:prstGeom prst="line">
            <a:avLst/>
          </a:prstGeom>
          <a:ln w="2540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931920" y="4686300"/>
            <a:ext cx="274320" cy="0"/>
          </a:xfrm>
          <a:prstGeom prst="line">
            <a:avLst/>
          </a:prstGeom>
          <a:ln w="2540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035040" y="4686300"/>
            <a:ext cx="274320" cy="0"/>
          </a:xfrm>
          <a:prstGeom prst="line">
            <a:avLst/>
          </a:prstGeom>
          <a:ln w="2540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863840" y="4686300"/>
            <a:ext cx="274320" cy="0"/>
          </a:xfrm>
          <a:prstGeom prst="line">
            <a:avLst/>
          </a:prstGeom>
          <a:ln w="25400">
            <a:solidFill>
              <a:srgbClr val="6366F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274320" y="5394960"/>
            <a:ext cx="1554480" cy="59436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87171"/>
                </a:solidFill>
                <a:latin typeface="Calibri"/>
              </a:rPr>
              <a:t>invoice.payment
_failed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103120" y="5394960"/>
            <a:ext cx="1554480" cy="59436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2E8F0"/>
                </a:solidFill>
                <a:latin typeface="Calibri"/>
              </a:rPr>
              <a:t>Status =
past_due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931920" y="5394960"/>
            <a:ext cx="1554480" cy="59436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87171"/>
                </a:solidFill>
                <a:latin typeface="Calibri"/>
              </a:rPr>
              <a:t>subscription
.deleted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760720" y="5394960"/>
            <a:ext cx="1554480" cy="59436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2E8F0"/>
                </a:solidFill>
                <a:latin typeface="Calibri"/>
              </a:rPr>
              <a:t>Downgrade
plan = 'trial'
Stripe sub = NULL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828800" y="5692140"/>
            <a:ext cx="274320" cy="0"/>
          </a:xfrm>
          <a:prstGeom prst="line">
            <a:avLst/>
          </a:prstGeom>
          <a:ln w="25400">
            <a:solidFill>
              <a:srgbClr val="F8717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5486400" y="5692140"/>
            <a:ext cx="274320" cy="0"/>
          </a:xfrm>
          <a:prstGeom prst="line">
            <a:avLst/>
          </a:prstGeom>
          <a:ln w="25400">
            <a:solidFill>
              <a:srgbClr val="F8717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6400800" y="5394960"/>
            <a:ext cx="1828800" cy="118872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1E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E2E8F0"/>
                </a:solidFill>
                <a:latin typeface="Calibri"/>
              </a:rPr>
              <a:t>Trial (Free)</a:t>
            </a:r>
          </a:p>
          <a:p>
            <a:pPr algn="l"/>
            <a:r>
              <a:rPr sz="900" b="0">
                <a:solidFill>
                  <a:srgbClr val="E2E8F0"/>
                </a:solidFill>
                <a:latin typeface="Calibri"/>
              </a:rPr>
              <a:t>1 site</a:t>
            </a:r>
          </a:p>
          <a:p>
            <a:pPr algn="l"/>
            <a:r>
              <a:rPr sz="900" b="0">
                <a:solidFill>
                  <a:srgbClr val="E2E8F0"/>
                </a:solidFill>
                <a:latin typeface="Calibri"/>
              </a:rPr>
              <a:t>SEO audit + Performance</a:t>
            </a:r>
          </a:p>
          <a:p>
            <a:pPr algn="l"/>
            <a:r>
              <a:rPr sz="900" b="0">
                <a:solidFill>
                  <a:srgbClr val="E2E8F0"/>
                </a:solidFill>
                <a:latin typeface="Calibri"/>
              </a:rPr>
              <a:t>7-day duration</a:t>
            </a:r>
          </a:p>
          <a:p>
            <a:pPr algn="l"/>
            <a:r>
              <a:rPr sz="900" b="0">
                <a:solidFill>
                  <a:srgbClr val="E2E8F0"/>
                </a:solidFill>
                <a:latin typeface="Calibri"/>
              </a:rPr>
              <a:t>No integrations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412480" y="5394960"/>
            <a:ext cx="1828800" cy="118872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E2E8F0"/>
                </a:solidFill>
                <a:latin typeface="Calibri"/>
              </a:rPr>
              <a:t>Pro ($29/mo)</a:t>
            </a:r>
          </a:p>
          <a:p>
            <a:pPr algn="l"/>
            <a:r>
              <a:rPr sz="900" b="0">
                <a:solidFill>
                  <a:srgbClr val="E2E8F0"/>
                </a:solidFill>
                <a:latin typeface="Calibri"/>
              </a:rPr>
              <a:t>5 sites</a:t>
            </a:r>
          </a:p>
          <a:p>
            <a:pPr algn="l"/>
            <a:r>
              <a:rPr sz="900" b="0">
                <a:solidFill>
                  <a:srgbClr val="E2E8F0"/>
                </a:solidFill>
                <a:latin typeface="Calibri"/>
              </a:rPr>
              <a:t>Google + Cloudflare</a:t>
            </a:r>
          </a:p>
          <a:p>
            <a:pPr algn="l"/>
            <a:r>
              <a:rPr sz="900" b="0">
                <a:solidFill>
                  <a:srgbClr val="E2E8F0"/>
                </a:solidFill>
                <a:latin typeface="Calibri"/>
              </a:rPr>
              <a:t>Search Console + GA4</a:t>
            </a:r>
          </a:p>
          <a:p>
            <a:pPr algn="l"/>
            <a:r>
              <a:rPr sz="900" b="0">
                <a:solidFill>
                  <a:srgbClr val="E2E8F0"/>
                </a:solidFill>
                <a:latin typeface="Calibri"/>
              </a:rPr>
              <a:t>AI suggestions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424160" y="5394960"/>
            <a:ext cx="1828800" cy="118872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E2E8F0"/>
                </a:solidFill>
                <a:latin typeface="Calibri"/>
              </a:rPr>
              <a:t>Agency ($59/mo)</a:t>
            </a:r>
          </a:p>
          <a:p>
            <a:pPr algn="l"/>
            <a:r>
              <a:rPr sz="900" b="0">
                <a:solidFill>
                  <a:srgbClr val="E2E8F0"/>
                </a:solidFill>
                <a:latin typeface="Calibri"/>
              </a:rPr>
              <a:t>25 sites</a:t>
            </a:r>
          </a:p>
          <a:p>
            <a:pPr algn="l"/>
            <a:r>
              <a:rPr sz="900" b="0">
                <a:solidFill>
                  <a:srgbClr val="E2E8F0"/>
                </a:solidFill>
                <a:latin typeface="Calibri"/>
              </a:rPr>
              <a:t>Everything in Pro</a:t>
            </a:r>
          </a:p>
          <a:p>
            <a:pPr algn="l"/>
            <a:r>
              <a:rPr sz="900" b="0">
                <a:solidFill>
                  <a:srgbClr val="E2E8F0"/>
                </a:solidFill>
                <a:latin typeface="Calibri"/>
              </a:rPr>
              <a:t>Team collaboration</a:t>
            </a:r>
          </a:p>
          <a:p>
            <a:pPr algn="l"/>
            <a:r>
              <a:rPr sz="900" b="0">
                <a:solidFill>
                  <a:srgbClr val="E2E8F0"/>
                </a:solidFill>
                <a:latin typeface="Calibri"/>
              </a:rPr>
              <a:t>Priority support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6. Team Collaboration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94A3B8"/>
                </a:solidFill>
                <a:latin typeface="Calibri"/>
              </a:rPr>
              <a:t>Invite &gt; Magic link accept &gt; Role-based access &gt; Shared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645920"/>
            <a:ext cx="1554480" cy="594360"/>
          </a:xfrm>
          <a:prstGeom prst="roundRect">
            <a:avLst/>
          </a:prstGeom>
          <a:solidFill>
            <a:srgbClr val="6366F1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Admin User
(Agency Plan)</a:t>
            </a:r>
          </a:p>
        </p:txBody>
      </p:sp>
      <p:sp>
        <p:nvSpPr>
          <p:cNvPr id="5" name="Diamond 4"/>
          <p:cNvSpPr/>
          <p:nvPr/>
        </p:nvSpPr>
        <p:spPr>
          <a:xfrm>
            <a:off x="2103120" y="1645920"/>
            <a:ext cx="1188720" cy="868680"/>
          </a:xfrm>
          <a:prstGeom prst="diamond">
            <a:avLst/>
          </a:prstGeom>
          <a:solidFill>
            <a:srgbClr val="131624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E2E8F0"/>
                </a:solidFill>
                <a:latin typeface="Calibri"/>
              </a:rPr>
              <a:t>Plan =
Agency?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645920"/>
            <a:ext cx="1554480" cy="59436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2E8F0"/>
                </a:solidFill>
                <a:latin typeface="Calibri"/>
              </a:rPr>
              <a:t>POST
/api/team/invite
member_email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94960" y="1645920"/>
            <a:ext cx="1554480" cy="59436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2E8F0"/>
                </a:solidFill>
                <a:latin typeface="Calibri"/>
              </a:rPr>
              <a:t>Generate
invite_token
(UUID, 7d TTL)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1645920"/>
            <a:ext cx="1554480" cy="59436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2E8F0"/>
                </a:solidFill>
                <a:latin typeface="Calibri"/>
              </a:rPr>
              <a:t>Store in D1:
team_members
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60" y="1645920"/>
            <a:ext cx="1554480" cy="59436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2E8F0"/>
                </a:solidFill>
                <a:latin typeface="Calibri"/>
              </a:rPr>
              <a:t>Send Invite
Email via
Brevo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828800" y="1943100"/>
            <a:ext cx="274320" cy="137160"/>
          </a:xfrm>
          <a:prstGeom prst="line">
            <a:avLst/>
          </a:prstGeom>
          <a:ln w="25400">
            <a:solidFill>
              <a:srgbClr val="6366F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057400" y="2743200"/>
            <a:ext cx="1280160" cy="45720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BBF24"/>
                </a:solidFill>
                <a:latin typeface="Calibri"/>
              </a:rPr>
              <a:t>Requires
Agency Plan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97480" y="2514600"/>
            <a:ext cx="0" cy="228600"/>
          </a:xfrm>
          <a:prstGeom prst="line">
            <a:avLst/>
          </a:prstGeom>
          <a:ln w="25400">
            <a:solidFill>
              <a:srgbClr val="FBBF2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834640" y="253288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FBBF24"/>
                </a:solidFill>
                <a:latin typeface="Calibri"/>
              </a:rPr>
              <a:t>No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3291840" y="1943100"/>
            <a:ext cx="274320" cy="137160"/>
          </a:xfrm>
          <a:prstGeom prst="line">
            <a:avLst/>
          </a:prstGeom>
          <a:ln w="2540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310128" y="187909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34D399"/>
                </a:solidFill>
                <a:latin typeface="Calibri"/>
              </a:rPr>
              <a:t>Yes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120640" y="1943100"/>
            <a:ext cx="274320" cy="0"/>
          </a:xfrm>
          <a:prstGeom prst="line">
            <a:avLst/>
          </a:prstGeom>
          <a:ln w="25400">
            <a:solidFill>
              <a:srgbClr val="6366F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949440" y="1943100"/>
            <a:ext cx="274320" cy="0"/>
          </a:xfrm>
          <a:prstGeom prst="line">
            <a:avLst/>
          </a:prstGeom>
          <a:ln w="25400">
            <a:solidFill>
              <a:srgbClr val="6366F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778240" y="1943100"/>
            <a:ext cx="274320" cy="0"/>
          </a:xfrm>
          <a:prstGeom prst="line">
            <a:avLst/>
          </a:prstGeom>
          <a:ln w="2540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74320" y="3017520"/>
            <a:ext cx="1554480" cy="59436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2E8F0"/>
                </a:solidFill>
                <a:latin typeface="Calibri"/>
              </a:rPr>
              <a:t>Invitee Clicks
Email Link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03120" y="3017520"/>
            <a:ext cx="1554480" cy="59436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2E8F0"/>
                </a:solidFill>
                <a:latin typeface="Calibri"/>
              </a:rPr>
              <a:t>GET /api/team
/accept?token=X</a:t>
            </a:r>
          </a:p>
        </p:txBody>
      </p:sp>
      <p:sp>
        <p:nvSpPr>
          <p:cNvPr id="21" name="Diamond 20"/>
          <p:cNvSpPr/>
          <p:nvPr/>
        </p:nvSpPr>
        <p:spPr>
          <a:xfrm>
            <a:off x="3931920" y="3017520"/>
            <a:ext cx="1188720" cy="868680"/>
          </a:xfrm>
          <a:prstGeom prst="diamond">
            <a:avLst/>
          </a:prstGeom>
          <a:solidFill>
            <a:srgbClr val="131624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E2E8F0"/>
                </a:solidFill>
                <a:latin typeface="Calibri"/>
              </a:rPr>
              <a:t>Has
Account?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86200" y="4114800"/>
            <a:ext cx="1280160" cy="45720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2E8F0"/>
                </a:solidFill>
                <a:latin typeface="Calibri"/>
              </a:rPr>
              <a:t>Magic Link
Signup First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526280" y="3886200"/>
            <a:ext cx="0" cy="228600"/>
          </a:xfrm>
          <a:prstGeom prst="line">
            <a:avLst/>
          </a:prstGeom>
          <a:ln w="25400">
            <a:solidFill>
              <a:srgbClr val="6366F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663440" y="3904488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6366F1"/>
                </a:solidFill>
                <a:latin typeface="Calibri"/>
              </a:rPr>
              <a:t>No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94960" y="3017520"/>
            <a:ext cx="1554480" cy="59436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2E8F0"/>
                </a:solidFill>
                <a:latin typeface="Calibri"/>
              </a:rPr>
              <a:t>Validate Token
(not expired,
not used)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23760" y="3017520"/>
            <a:ext cx="1554480" cy="59436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2E8F0"/>
                </a:solidFill>
                <a:latin typeface="Calibri"/>
              </a:rPr>
              <a:t>Set
member_user_id
accepted_at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52560" y="3017520"/>
            <a:ext cx="1554480" cy="59436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34D399"/>
                </a:solidFill>
                <a:latin typeface="Calibri"/>
              </a:rPr>
              <a:t>Redirect to
/dashboard
(Owner's Data)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1051560" y="2240280"/>
            <a:ext cx="8778240" cy="777240"/>
          </a:xfrm>
          <a:prstGeom prst="line">
            <a:avLst/>
          </a:prstGeom>
          <a:ln w="2540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0" y="3314700"/>
            <a:ext cx="274320" cy="0"/>
          </a:xfrm>
          <a:prstGeom prst="line">
            <a:avLst/>
          </a:prstGeom>
          <a:ln w="25400">
            <a:solidFill>
              <a:srgbClr val="6366F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657600" y="3314700"/>
            <a:ext cx="274320" cy="137160"/>
          </a:xfrm>
          <a:prstGeom prst="line">
            <a:avLst/>
          </a:prstGeom>
          <a:ln w="25400">
            <a:solidFill>
              <a:srgbClr val="6366F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5120640" y="3314700"/>
            <a:ext cx="274320" cy="137160"/>
          </a:xfrm>
          <a:prstGeom prst="line">
            <a:avLst/>
          </a:prstGeom>
          <a:ln w="2540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138928" y="3250692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34D399"/>
                </a:solidFill>
                <a:latin typeface="Calibri"/>
              </a:rPr>
              <a:t>Yes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49440" y="3314700"/>
            <a:ext cx="274320" cy="0"/>
          </a:xfrm>
          <a:prstGeom prst="line">
            <a:avLst/>
          </a:prstGeom>
          <a:ln w="2540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778240" y="3314700"/>
            <a:ext cx="274320" cy="0"/>
          </a:xfrm>
          <a:prstGeom prst="line">
            <a:avLst/>
          </a:prstGeom>
          <a:ln w="25400">
            <a:solidFill>
              <a:srgbClr val="34D39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274320" y="4572000"/>
            <a:ext cx="2286000" cy="91440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E2E8F0"/>
                </a:solidFill>
                <a:latin typeface="Calibri"/>
              </a:rPr>
              <a:t>resolveEffectiveUser()
If team member:
effectiveUserId =
owner_user_id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926080" y="4572000"/>
            <a:ext cx="3200400" cy="91440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E2E8F0"/>
                </a:solidFill>
                <a:latin typeface="Calibri"/>
              </a:rPr>
              <a:t>Admin Role (Owner):</a:t>
            </a:r>
          </a:p>
          <a:p>
            <a:pPr algn="l"/>
            <a:r>
              <a:rPr sz="900" b="0">
                <a:solidFill>
                  <a:srgbClr val="E2E8F0"/>
                </a:solidFill>
                <a:latin typeface="Calibri"/>
              </a:rPr>
              <a:t>Add/remove websites</a:t>
            </a:r>
          </a:p>
          <a:p>
            <a:pPr algn="l"/>
            <a:r>
              <a:rPr sz="900" b="0">
                <a:solidFill>
                  <a:srgbClr val="E2E8F0"/>
                </a:solidFill>
                <a:latin typeface="Calibri"/>
              </a:rPr>
              <a:t>Manage integrations</a:t>
            </a:r>
          </a:p>
          <a:p>
            <a:pPr algn="l"/>
            <a:r>
              <a:rPr sz="900" b="0">
                <a:solidFill>
                  <a:srgbClr val="E2E8F0"/>
                </a:solidFill>
                <a:latin typeface="Calibri"/>
              </a:rPr>
              <a:t>Invite/remove team members</a:t>
            </a:r>
          </a:p>
          <a:p>
            <a:pPr algn="l"/>
            <a:r>
              <a:rPr sz="900" b="0">
                <a:solidFill>
                  <a:srgbClr val="E2E8F0"/>
                </a:solidFill>
                <a:latin typeface="Calibri"/>
              </a:rPr>
              <a:t>Access billing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92240" y="4572000"/>
            <a:ext cx="3200400" cy="91440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E2E8F0"/>
                </a:solidFill>
                <a:latin typeface="Calibri"/>
              </a:rPr>
              <a:t>Member Role (Invitee):</a:t>
            </a:r>
          </a:p>
          <a:p>
            <a:pPr algn="l"/>
            <a:r>
              <a:rPr sz="900" b="0">
                <a:solidFill>
                  <a:srgbClr val="E2E8F0"/>
                </a:solidFill>
                <a:latin typeface="Calibri"/>
              </a:rPr>
              <a:t>View all dashboards</a:t>
            </a:r>
          </a:p>
          <a:p>
            <a:pPr algn="l"/>
            <a:r>
              <a:rPr sz="900" b="0">
                <a:solidFill>
                  <a:srgbClr val="E2E8F0"/>
                </a:solidFill>
                <a:latin typeface="Calibri"/>
              </a:rPr>
              <a:t>View audit results</a:t>
            </a:r>
          </a:p>
          <a:p>
            <a:pPr algn="l"/>
            <a:r>
              <a:rPr sz="900" b="0">
                <a:solidFill>
                  <a:srgbClr val="E2E8F0"/>
                </a:solidFill>
                <a:latin typeface="Calibri"/>
              </a:rPr>
              <a:t>Cannot add/remove sites</a:t>
            </a:r>
          </a:p>
          <a:p>
            <a:pPr algn="l"/>
            <a:r>
              <a:rPr sz="900" b="0">
                <a:solidFill>
                  <a:srgbClr val="E2E8F0"/>
                </a:solidFill>
                <a:latin typeface="Calibri"/>
              </a:rPr>
              <a:t>Cannot modify integrations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058400" y="4572000"/>
            <a:ext cx="2286000" cy="91440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1E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94A3B8"/>
                </a:solidFill>
                <a:latin typeface="Calibri"/>
              </a:rPr>
              <a:t>Data Access:</a:t>
            </a:r>
          </a:p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All queries scoped to</a:t>
            </a:r>
          </a:p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effectiveUserId</a:t>
            </a:r>
          </a:p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(owner's properties)</a:t>
            </a:r>
          </a:p>
          <a:p>
            <a:pPr algn="l"/>
            <a:r>
              <a:rPr sz="900" b="0">
                <a:solidFill>
                  <a:srgbClr val="94A3B8"/>
                </a:solidFill>
                <a:latin typeface="Calibri"/>
              </a:rPr>
              <a:t>Team members see all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7. System Architecture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94A3B8"/>
                </a:solidFill>
                <a:latin typeface="Calibri"/>
              </a:rPr>
              <a:t>Cloudflare Workers SaaS — Routes, Storage, External APIs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371600"/>
            <a:ext cx="3200400" cy="411480"/>
          </a:xfrm>
          <a:prstGeom prst="roundRect">
            <a:avLst/>
          </a:prstGeom>
          <a:solidFill>
            <a:srgbClr val="6366F1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Cloudflare Worker (index.js)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874520"/>
            <a:ext cx="3200400" cy="256032"/>
          </a:xfrm>
          <a:prstGeom prst="roundRect">
            <a:avLst/>
          </a:prstGeom>
          <a:solidFill>
            <a:srgbClr val="0F111A"/>
          </a:solidFill>
          <a:ln w="19050">
            <a:solidFill>
              <a:srgbClr val="1E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/ - Marketing (marketing.html)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148840"/>
            <a:ext cx="3200400" cy="256032"/>
          </a:xfrm>
          <a:prstGeom prst="roundRect">
            <a:avLst/>
          </a:prstGeom>
          <a:solidFill>
            <a:srgbClr val="0F111A"/>
          </a:solidFill>
          <a:ln w="19050">
            <a:solidFill>
              <a:srgbClr val="1E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/login - Login page (login.html)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423160"/>
            <a:ext cx="3200400" cy="256032"/>
          </a:xfrm>
          <a:prstGeom prst="roundRect">
            <a:avLst/>
          </a:prstGeom>
          <a:solidFill>
            <a:srgbClr val="0F111A"/>
          </a:solidFill>
          <a:ln w="19050">
            <a:solidFill>
              <a:srgbClr val="1E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/dashboard - SPA (dashboard.html)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697480"/>
            <a:ext cx="3200400" cy="256032"/>
          </a:xfrm>
          <a:prstGeom prst="roundRect">
            <a:avLst/>
          </a:prstGeom>
          <a:solidFill>
            <a:srgbClr val="0F111A"/>
          </a:solidFill>
          <a:ln w="19050">
            <a:solidFill>
              <a:srgbClr val="1E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/api/auth/* - Magic link auth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2971800"/>
            <a:ext cx="3200400" cy="256032"/>
          </a:xfrm>
          <a:prstGeom prst="roundRect">
            <a:avLst/>
          </a:prstGeom>
          <a:solidFill>
            <a:srgbClr val="0F111A"/>
          </a:solidFill>
          <a:ln w="19050">
            <a:solidFill>
              <a:srgbClr val="1E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/api/properties/* - CRUD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3246120"/>
            <a:ext cx="3200400" cy="256032"/>
          </a:xfrm>
          <a:prstGeom prst="roundRect">
            <a:avLst/>
          </a:prstGeom>
          <a:solidFill>
            <a:srgbClr val="0F111A"/>
          </a:solidFill>
          <a:ln w="19050">
            <a:solidFill>
              <a:srgbClr val="1E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/api/data - Portfolio/detail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3520440"/>
            <a:ext cx="3200400" cy="256032"/>
          </a:xfrm>
          <a:prstGeom prst="roundRect">
            <a:avLst/>
          </a:prstGeom>
          <a:solidFill>
            <a:srgbClr val="0F111A"/>
          </a:solidFill>
          <a:ln w="19050">
            <a:solidFill>
              <a:srgbClr val="1E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/api/performance - CWV + GA4 + CF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3794760"/>
            <a:ext cx="3200400" cy="256032"/>
          </a:xfrm>
          <a:prstGeom prst="roundRect">
            <a:avLst/>
          </a:prstGeom>
          <a:solidFill>
            <a:srgbClr val="0F111A"/>
          </a:solidFill>
          <a:ln w="19050">
            <a:solidFill>
              <a:srgbClr val="1E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/api/seo-stats - SEO issues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4069080"/>
            <a:ext cx="3200400" cy="256032"/>
          </a:xfrm>
          <a:prstGeom prst="roundRect">
            <a:avLst/>
          </a:prstGeom>
          <a:solidFill>
            <a:srgbClr val="0F111A"/>
          </a:solidFill>
          <a:ln w="19050">
            <a:solidFill>
              <a:srgbClr val="1E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/api/accessibility - A11y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4343400"/>
            <a:ext cx="3200400" cy="256032"/>
          </a:xfrm>
          <a:prstGeom prst="roundRect">
            <a:avLst/>
          </a:prstGeom>
          <a:solidFill>
            <a:srgbClr val="0F111A"/>
          </a:solidFill>
          <a:ln w="19050">
            <a:solidFill>
              <a:srgbClr val="1E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/api/keywords - Search Console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4617720"/>
            <a:ext cx="3200400" cy="256032"/>
          </a:xfrm>
          <a:prstGeom prst="roundRect">
            <a:avLst/>
          </a:prstGeom>
          <a:solidFill>
            <a:srgbClr val="0F111A"/>
          </a:solidFill>
          <a:ln w="19050">
            <a:solidFill>
              <a:srgbClr val="1E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/api/ai-readiness - AI readiness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4892040"/>
            <a:ext cx="3200400" cy="256032"/>
          </a:xfrm>
          <a:prstGeom prst="roundRect">
            <a:avLst/>
          </a:prstGeom>
          <a:solidFill>
            <a:srgbClr val="0F111A"/>
          </a:solidFill>
          <a:ln w="19050">
            <a:solidFill>
              <a:srgbClr val="1E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/api/billing/* - Stripe billing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5166360"/>
            <a:ext cx="3200400" cy="256032"/>
          </a:xfrm>
          <a:prstGeom prst="roundRect">
            <a:avLst/>
          </a:prstGeom>
          <a:solidFill>
            <a:srgbClr val="0F111A"/>
          </a:solidFill>
          <a:ln w="19050">
            <a:solidFill>
              <a:srgbClr val="1E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/api/team/* - Team management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5440680"/>
            <a:ext cx="3200400" cy="256032"/>
          </a:xfrm>
          <a:prstGeom prst="roundRect">
            <a:avLst/>
          </a:prstGeom>
          <a:solidFill>
            <a:srgbClr val="0F111A"/>
          </a:solidFill>
          <a:ln w="19050">
            <a:solidFill>
              <a:srgbClr val="1E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/api/oauth/google/* - OAuth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5715000"/>
            <a:ext cx="3200400" cy="256032"/>
          </a:xfrm>
          <a:prstGeom prst="roundRect">
            <a:avLst/>
          </a:prstGeom>
          <a:solidFill>
            <a:srgbClr val="0F111A"/>
          </a:solidFill>
          <a:ln w="19050">
            <a:solidFill>
              <a:srgbClr val="1E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/api/webhooks/stripe - Webhooks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49039" y="1371600"/>
            <a:ext cx="2743200" cy="411480"/>
          </a:xfrm>
          <a:prstGeom prst="roundRect">
            <a:avLst/>
          </a:prstGeom>
          <a:solidFill>
            <a:srgbClr val="C084FC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Storage Layer</a:t>
            </a:r>
          </a:p>
        </p:txBody>
      </p:sp>
      <p:sp>
        <p:nvSpPr>
          <p:cNvPr id="21" name="Can 20"/>
          <p:cNvSpPr/>
          <p:nvPr/>
        </p:nvSpPr>
        <p:spPr>
          <a:xfrm>
            <a:off x="3749039" y="1965960"/>
            <a:ext cx="2743200" cy="914400"/>
          </a:xfrm>
          <a:prstGeom prst="can">
            <a:avLst/>
          </a:prstGeom>
          <a:solidFill>
            <a:srgbClr val="131624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E2E8F0"/>
                </a:solidFill>
                <a:latin typeface="Calibri"/>
              </a:rPr>
              <a:t>D1 (SQLite)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49039" y="3017520"/>
            <a:ext cx="2743200" cy="1828800"/>
          </a:xfrm>
          <a:prstGeom prst="roundRect">
            <a:avLst/>
          </a:prstGeom>
          <a:solidFill>
            <a:srgbClr val="0F111A"/>
          </a:solidFill>
          <a:ln w="19050">
            <a:solidFill>
              <a:srgbClr val="1E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users</a:t>
            </a:r>
          </a:p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properties</a:t>
            </a:r>
          </a:p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audits</a:t>
            </a:r>
          </a:p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issues</a:t>
            </a:r>
          </a:p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broken_links</a:t>
            </a:r>
          </a:p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accessibility_issues</a:t>
            </a:r>
          </a:p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ai_readiness_issues</a:t>
            </a:r>
          </a:p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keywords</a:t>
            </a:r>
          </a:p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performance_snapshots</a:t>
            </a:r>
          </a:p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performance_history</a:t>
            </a:r>
          </a:p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subscriptions</a:t>
            </a:r>
          </a:p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billing_events</a:t>
            </a:r>
          </a:p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team_members</a:t>
            </a:r>
          </a:p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magic_links</a:t>
            </a:r>
          </a:p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oauth_states</a:t>
            </a:r>
          </a:p>
        </p:txBody>
      </p:sp>
      <p:sp>
        <p:nvSpPr>
          <p:cNvPr id="23" name="Can 22"/>
          <p:cNvSpPr/>
          <p:nvPr/>
        </p:nvSpPr>
        <p:spPr>
          <a:xfrm>
            <a:off x="3749039" y="4983480"/>
            <a:ext cx="2743200" cy="640080"/>
          </a:xfrm>
          <a:prstGeom prst="can">
            <a:avLst/>
          </a:prstGeom>
          <a:solidFill>
            <a:srgbClr val="131624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E2E8F0"/>
                </a:solidFill>
                <a:latin typeface="Calibri"/>
              </a:rPr>
              <a:t>KV (SEO_AUDITS)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49039" y="5760720"/>
            <a:ext cx="2743200" cy="548640"/>
          </a:xfrm>
          <a:prstGeom prst="roundRect">
            <a:avLst/>
          </a:prstGeom>
          <a:solidFill>
            <a:srgbClr val="0F111A"/>
          </a:solidFill>
          <a:ln w="19050">
            <a:solidFill>
              <a:srgbClr val="1E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session:{id} - 30d TTL</a:t>
            </a:r>
          </a:p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audit:{user}:{domain} - cache</a:t>
            </a:r>
          </a:p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quickaudit:{user}:{domain}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66560" y="1371600"/>
            <a:ext cx="2560320" cy="411480"/>
          </a:xfrm>
          <a:prstGeom prst="roundRect">
            <a:avLst/>
          </a:prstGeom>
          <a:solidFill>
            <a:srgbClr val="34D399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External APIs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66560" y="1965960"/>
            <a:ext cx="2560320" cy="50292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E2E8F0"/>
                </a:solidFill>
                <a:latin typeface="Calibri"/>
              </a:rPr>
              <a:t>Google GA4 Data API</a:t>
            </a:r>
          </a:p>
          <a:p>
            <a:pPr algn="l"/>
            <a:r>
              <a:rPr sz="900" b="0">
                <a:solidFill>
                  <a:srgbClr val="E2E8F0"/>
                </a:solidFill>
                <a:latin typeface="Calibri"/>
              </a:rPr>
              <a:t>Analytics reporting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66560" y="2532888"/>
            <a:ext cx="2560320" cy="50292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E2E8F0"/>
                </a:solidFill>
                <a:latin typeface="Calibri"/>
              </a:rPr>
              <a:t>Google Search Console</a:t>
            </a:r>
          </a:p>
          <a:p>
            <a:pPr algn="l"/>
            <a:r>
              <a:rPr sz="900" b="0">
                <a:solidFill>
                  <a:srgbClr val="E2E8F0"/>
                </a:solidFill>
                <a:latin typeface="Calibri"/>
              </a:rPr>
              <a:t>Keywords, indexing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766560" y="3099816"/>
            <a:ext cx="2560320" cy="50292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E2E8F0"/>
                </a:solidFill>
                <a:latin typeface="Calibri"/>
              </a:rPr>
              <a:t>Google Admin API</a:t>
            </a:r>
          </a:p>
          <a:p>
            <a:pPr algn="l"/>
            <a:r>
              <a:rPr sz="900" b="0">
                <a:solidFill>
                  <a:srgbClr val="E2E8F0"/>
                </a:solidFill>
                <a:latin typeface="Calibri"/>
              </a:rPr>
              <a:t>GA4 property discovery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66560" y="3666744"/>
            <a:ext cx="2560320" cy="50292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E2E8F0"/>
                </a:solidFill>
                <a:latin typeface="Calibri"/>
              </a:rPr>
              <a:t>PageSpeed Insights</a:t>
            </a:r>
          </a:p>
          <a:p>
            <a:pPr algn="l"/>
            <a:r>
              <a:rPr sz="900" b="0">
                <a:solidFill>
                  <a:srgbClr val="E2E8F0"/>
                </a:solidFill>
                <a:latin typeface="Calibri"/>
              </a:rPr>
              <a:t>CrUX + Lighthouse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766560" y="4233672"/>
            <a:ext cx="2560320" cy="50292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E2E8F0"/>
                </a:solidFill>
                <a:latin typeface="Calibri"/>
              </a:rPr>
              <a:t>Cloudflare GraphQL</a:t>
            </a:r>
          </a:p>
          <a:p>
            <a:pPr algn="l"/>
            <a:r>
              <a:rPr sz="900" b="0">
                <a:solidFill>
                  <a:srgbClr val="E2E8F0"/>
                </a:solidFill>
                <a:latin typeface="Calibri"/>
              </a:rPr>
              <a:t>Traffic, cache, WAF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766560" y="4800600"/>
            <a:ext cx="2560320" cy="50292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E2E8F0"/>
                </a:solidFill>
                <a:latin typeface="Calibri"/>
              </a:rPr>
              <a:t>Stripe API</a:t>
            </a:r>
          </a:p>
          <a:p>
            <a:pPr algn="l"/>
            <a:r>
              <a:rPr sz="900" b="0">
                <a:solidFill>
                  <a:srgbClr val="E2E8F0"/>
                </a:solidFill>
                <a:latin typeface="Calibri"/>
              </a:rPr>
              <a:t>Checkout, subscriptions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66560" y="5367528"/>
            <a:ext cx="2560320" cy="50292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E2E8F0"/>
                </a:solidFill>
                <a:latin typeface="Calibri"/>
              </a:rPr>
              <a:t>Brevo API</a:t>
            </a:r>
          </a:p>
          <a:p>
            <a:pPr algn="l"/>
            <a:r>
              <a:rPr sz="900" b="0">
                <a:solidFill>
                  <a:srgbClr val="E2E8F0"/>
                </a:solidFill>
                <a:latin typeface="Calibri"/>
              </a:rPr>
              <a:t>Magic link emails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766560" y="5934456"/>
            <a:ext cx="2560320" cy="502920"/>
          </a:xfrm>
          <a:prstGeom prst="roundRect">
            <a:avLst/>
          </a:prstGeom>
          <a:solidFill>
            <a:srgbClr val="131624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E2E8F0"/>
                </a:solidFill>
                <a:latin typeface="Calibri"/>
              </a:rPr>
              <a:t>Workers AI</a:t>
            </a:r>
          </a:p>
          <a:p>
            <a:pPr algn="l"/>
            <a:r>
              <a:rPr sz="900" b="0">
                <a:solidFill>
                  <a:srgbClr val="E2E8F0"/>
                </a:solidFill>
                <a:latin typeface="Calibri"/>
              </a:rPr>
              <a:t>Fix suggestions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01200" y="1371600"/>
            <a:ext cx="2377440" cy="411480"/>
          </a:xfrm>
          <a:prstGeom prst="roundRect">
            <a:avLst/>
          </a:prstGeom>
          <a:solidFill>
            <a:srgbClr val="1E2235"/>
          </a:solidFill>
          <a:ln w="19050">
            <a:solidFill>
              <a:srgbClr val="1E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E2E8F0"/>
                </a:solidFill>
                <a:latin typeface="Calibri"/>
              </a:rPr>
              <a:t>Source Files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01200" y="1965960"/>
            <a:ext cx="2377440" cy="256032"/>
          </a:xfrm>
          <a:prstGeom prst="roundRect">
            <a:avLst/>
          </a:prstGeom>
          <a:solidFill>
            <a:srgbClr val="0F111A"/>
          </a:solidFill>
          <a:ln w="19050">
            <a:solidFill>
              <a:srgbClr val="1E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index.js - Router + handlers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01200" y="2240280"/>
            <a:ext cx="2377440" cy="256032"/>
          </a:xfrm>
          <a:prstGeom prst="roundRect">
            <a:avLst/>
          </a:prstGeom>
          <a:solidFill>
            <a:srgbClr val="0F111A"/>
          </a:solidFill>
          <a:ln w="19050">
            <a:solidFill>
              <a:srgbClr val="1E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handlers.js - Data endpoints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601200" y="2514600"/>
            <a:ext cx="2377440" cy="256032"/>
          </a:xfrm>
          <a:prstGeom prst="roundRect">
            <a:avLst/>
          </a:prstGeom>
          <a:solidFill>
            <a:srgbClr val="0F111A"/>
          </a:solidFill>
          <a:ln w="19050">
            <a:solidFill>
              <a:srgbClr val="1E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audit.js - Full sitemap audit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601200" y="2788920"/>
            <a:ext cx="2377440" cy="256032"/>
          </a:xfrm>
          <a:prstGeom prst="roundRect">
            <a:avLst/>
          </a:prstGeom>
          <a:solidFill>
            <a:srgbClr val="0F111A"/>
          </a:solidFill>
          <a:ln w="19050">
            <a:solidFill>
              <a:srgbClr val="1E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quick-audit.js - Homepage audit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601200" y="3063240"/>
            <a:ext cx="2377440" cy="256032"/>
          </a:xfrm>
          <a:prstGeom prst="roundRect">
            <a:avLst/>
          </a:prstGeom>
          <a:solidFill>
            <a:srgbClr val="0F111A"/>
          </a:solidFill>
          <a:ln w="19050">
            <a:solidFill>
              <a:srgbClr val="1E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google-api.js - GA4 + SC + PSI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601200" y="3337560"/>
            <a:ext cx="2377440" cy="256032"/>
          </a:xfrm>
          <a:prstGeom prst="roundRect">
            <a:avLst/>
          </a:prstGeom>
          <a:solidFill>
            <a:srgbClr val="0F111A"/>
          </a:solidFill>
          <a:ln w="19050">
            <a:solidFill>
              <a:srgbClr val="1E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google-oauth.js - OAuth + encrypt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601200" y="3611880"/>
            <a:ext cx="2377440" cy="256032"/>
          </a:xfrm>
          <a:prstGeom prst="roundRect">
            <a:avLst/>
          </a:prstGeom>
          <a:solidFill>
            <a:srgbClr val="0F111A"/>
          </a:solidFill>
          <a:ln w="19050">
            <a:solidFill>
              <a:srgbClr val="1E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google-auth.js - Token refresh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601200" y="3886200"/>
            <a:ext cx="2377440" cy="256032"/>
          </a:xfrm>
          <a:prstGeom prst="roundRect">
            <a:avLst/>
          </a:prstGeom>
          <a:solidFill>
            <a:srgbClr val="0F111A"/>
          </a:solidFill>
          <a:ln w="19050">
            <a:solidFill>
              <a:srgbClr val="1E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auth.js - Magic link + sessions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601200" y="4160520"/>
            <a:ext cx="2377440" cy="256032"/>
          </a:xfrm>
          <a:prstGeom prst="roundRect">
            <a:avLst/>
          </a:prstGeom>
          <a:solidFill>
            <a:srgbClr val="0F111A"/>
          </a:solidFill>
          <a:ln w="19050">
            <a:solidFill>
              <a:srgbClr val="1E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stripe.js - Billing + webhooks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601200" y="4434840"/>
            <a:ext cx="2377440" cy="256032"/>
          </a:xfrm>
          <a:prstGeom prst="roundRect">
            <a:avLst/>
          </a:prstGeom>
          <a:solidFill>
            <a:srgbClr val="0F111A"/>
          </a:solidFill>
          <a:ln w="19050">
            <a:solidFill>
              <a:srgbClr val="1E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tenant.js - Multi-tenant + teams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601200" y="4709160"/>
            <a:ext cx="2377440" cy="256032"/>
          </a:xfrm>
          <a:prstGeom prst="roundRect">
            <a:avLst/>
          </a:prstGeom>
          <a:solidFill>
            <a:srgbClr val="0F111A"/>
          </a:solidFill>
          <a:ln w="19050">
            <a:solidFill>
              <a:srgbClr val="1E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cloudflare-api.js - CF GraphQL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601200" y="4983480"/>
            <a:ext cx="2377440" cy="256032"/>
          </a:xfrm>
          <a:prstGeom prst="roundRect">
            <a:avLst/>
          </a:prstGeom>
          <a:solidFill>
            <a:srgbClr val="0F111A"/>
          </a:solidFill>
          <a:ln w="19050">
            <a:solidFill>
              <a:srgbClr val="1E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config.js - Legacy credentials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601200" y="5257800"/>
            <a:ext cx="2377440" cy="256032"/>
          </a:xfrm>
          <a:prstGeom prst="roundRect">
            <a:avLst/>
          </a:prstGeom>
          <a:solidFill>
            <a:srgbClr val="0F111A"/>
          </a:solidFill>
          <a:ln w="19050">
            <a:solidFill>
              <a:srgbClr val="1E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utils.js - Date ranges, helpers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601200" y="5532120"/>
            <a:ext cx="2377440" cy="256032"/>
          </a:xfrm>
          <a:prstGeom prst="roundRect">
            <a:avLst/>
          </a:prstGeom>
          <a:solidFill>
            <a:srgbClr val="0F111A"/>
          </a:solidFill>
          <a:ln w="19050">
            <a:solidFill>
              <a:srgbClr val="1E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dashboard.html - Frontend SPA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601200" y="5806440"/>
            <a:ext cx="2377440" cy="256032"/>
          </a:xfrm>
          <a:prstGeom prst="roundRect">
            <a:avLst/>
          </a:prstGeom>
          <a:solidFill>
            <a:srgbClr val="0F111A"/>
          </a:solidFill>
          <a:ln w="19050">
            <a:solidFill>
              <a:srgbClr val="1E2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0">
                <a:solidFill>
                  <a:srgbClr val="94A3B8"/>
                </a:solidFill>
                <a:latin typeface="Calibri"/>
              </a:rPr>
              <a:t>marketing.html - Landing page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