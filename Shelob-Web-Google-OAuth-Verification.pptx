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C1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p:spPr>
      </p:sp>
      <p:sp>
        <p:nvSpPr>
          <p:cNvPr id="3" name="Shape 1"/>
          <p:cNvSpPr/>
          <p:nvPr/>
        </p:nvSpPr>
        <p:spPr>
          <a:xfrm>
            <a:off x="6583680" y="548640"/>
            <a:ext cx="3657600" cy="3657600"/>
          </a:xfrm>
          <a:prstGeom prst="ellipse">
            <a:avLst/>
          </a:prstGeom>
          <a:solidFill>
            <a:srgbClr val="6366F1">
              <a:alpha val="8000"/>
            </a:srgbClr>
          </a:solidFill>
          <a:ln/>
        </p:spPr>
      </p:sp>
      <p:sp>
        <p:nvSpPr>
          <p:cNvPr id="4" name="Text 2"/>
          <p:cNvSpPr/>
          <p:nvPr/>
        </p:nvSpPr>
        <p:spPr>
          <a:xfrm>
            <a:off x="731520" y="1097280"/>
            <a:ext cx="7315200" cy="640080"/>
          </a:xfrm>
          <a:prstGeom prst="rect">
            <a:avLst/>
          </a:prstGeom>
          <a:noFill/>
          <a:ln/>
        </p:spPr>
        <p:txBody>
          <a:bodyPr wrap="square" lIns="0" tIns="0" rIns="0" bIns="0" rtlCol="0" anchor="ctr"/>
          <a:lstStyle/>
          <a:p>
            <a:pPr indent="0" marL="0">
              <a:buNone/>
            </a:pPr>
            <a:r>
              <a:rPr lang="en-US" sz="4200" b="1" dirty="0">
                <a:solidFill>
                  <a:srgbClr val="F1F5F9"/>
                </a:solidFill>
                <a:latin typeface="Calibri" pitchFamily="34" charset="0"/>
                <a:ea typeface="Calibri" pitchFamily="34" charset="-122"/>
                <a:cs typeface="Calibri" pitchFamily="34" charset="-120"/>
              </a:rPr>
              <a:t>Shelob Web</a:t>
            </a:r>
            <a:endParaRPr lang="en-US" sz="4200" dirty="0"/>
          </a:p>
        </p:txBody>
      </p:sp>
      <p:sp>
        <p:nvSpPr>
          <p:cNvPr id="5" name="Text 3"/>
          <p:cNvSpPr/>
          <p:nvPr/>
        </p:nvSpPr>
        <p:spPr>
          <a:xfrm>
            <a:off x="731520" y="1783080"/>
            <a:ext cx="7315200" cy="457200"/>
          </a:xfrm>
          <a:prstGeom prst="rect">
            <a:avLst/>
          </a:prstGeom>
          <a:noFill/>
          <a:ln/>
        </p:spPr>
        <p:txBody>
          <a:bodyPr wrap="square" lIns="0" tIns="0" rIns="0" bIns="0" rtlCol="0" anchor="ctr"/>
          <a:lstStyle/>
          <a:p>
            <a:pPr indent="0" marL="0">
              <a:buNone/>
            </a:pPr>
            <a:r>
              <a:rPr lang="en-US" sz="2000" dirty="0">
                <a:solidFill>
                  <a:srgbClr val="818CF8"/>
                </a:solidFill>
                <a:latin typeface="Calibri" pitchFamily="34" charset="0"/>
                <a:ea typeface="Calibri" pitchFamily="34" charset="-122"/>
                <a:cs typeface="Calibri" pitchFamily="34" charset="-120"/>
              </a:rPr>
              <a:t>Google OAuth Verification — App Demonstration</a:t>
            </a:r>
            <a:endParaRPr lang="en-US" sz="2000" dirty="0"/>
          </a:p>
        </p:txBody>
      </p:sp>
      <p:sp>
        <p:nvSpPr>
          <p:cNvPr id="6" name="Shape 4"/>
          <p:cNvSpPr/>
          <p:nvPr/>
        </p:nvSpPr>
        <p:spPr>
          <a:xfrm>
            <a:off x="731520" y="2606040"/>
            <a:ext cx="3291840" cy="329184"/>
          </a:xfrm>
          <a:prstGeom prst="rect">
            <a:avLst>
              <a:gd name="adj" fmla="val 13889"/>
            </a:avLst>
          </a:prstGeom>
          <a:solidFill>
            <a:srgbClr val="131624"/>
          </a:solidFill>
          <a:ln w="12700">
            <a:solidFill>
              <a:srgbClr val="1E2235"/>
            </a:solidFill>
            <a:prstDash val="solid"/>
          </a:ln>
        </p:spPr>
      </p:sp>
      <p:sp>
        <p:nvSpPr>
          <p:cNvPr id="7" name="Text 5"/>
          <p:cNvSpPr/>
          <p:nvPr/>
        </p:nvSpPr>
        <p:spPr>
          <a:xfrm>
            <a:off x="731520" y="2606040"/>
            <a:ext cx="3291840" cy="329184"/>
          </a:xfrm>
          <a:prstGeom prst="rect">
            <a:avLst/>
          </a:prstGeom>
          <a:noFill/>
          <a:ln/>
        </p:spPr>
        <p:txBody>
          <a:bodyPr wrap="square" lIns="0" tIns="0" rIns="0" bIns="0" rtlCol="0" anchor="ctr"/>
          <a:lstStyle/>
          <a:p>
            <a:pPr algn="ctr" indent="0" marL="0">
              <a:buNone/>
            </a:pPr>
            <a:r>
              <a:rPr lang="en-US" sz="1100" dirty="0">
                <a:solidFill>
                  <a:srgbClr val="A5B4FC"/>
                </a:solidFill>
                <a:latin typeface="Consolas" pitchFamily="34" charset="0"/>
                <a:ea typeface="Consolas" pitchFamily="34" charset="-122"/>
                <a:cs typeface="Consolas" pitchFamily="34" charset="-120"/>
              </a:rPr>
              <a:t>analytics.readonly  ·  webmasters.readonly</a:t>
            </a:r>
            <a:endParaRPr lang="en-US" sz="1100" dirty="0"/>
          </a:p>
        </p:txBody>
      </p:sp>
      <p:sp>
        <p:nvSpPr>
          <p:cNvPr id="8" name="Text 6"/>
          <p:cNvSpPr/>
          <p:nvPr/>
        </p:nvSpPr>
        <p:spPr>
          <a:xfrm>
            <a:off x="731520" y="3291840"/>
            <a:ext cx="7315200" cy="1463040"/>
          </a:xfrm>
          <a:prstGeom prst="rect">
            <a:avLst/>
          </a:prstGeom>
          <a:noFill/>
          <a:ln/>
        </p:spPr>
        <p:txBody>
          <a:bodyPr wrap="square" lIns="0" tIns="0" rIns="0" bIns="0" rtlCol="0" anchor="ctr"/>
          <a:lstStyle/>
          <a:p>
            <a:pPr indent="0" marL="0">
              <a:lnSpc>
                <a:spcPct val="150000"/>
              </a:lnSpc>
              <a:buNone/>
            </a:pPr>
            <a:r>
              <a:rPr lang="en-US" sz="1300" dirty="0">
                <a:solidFill>
                  <a:srgbClr val="64748B"/>
                </a:solidFill>
                <a:latin typeface="Calibri" pitchFamily="34" charset="0"/>
                <a:ea typeface="Calibri" pitchFamily="34" charset="-122"/>
                <a:cs typeface="Calibri" pitchFamily="34" charset="-120"/>
              </a:rPr>
              <a:t>App Name:  </a:t>
            </a:r>
            <a:pPr indent="0" marL="0">
              <a:lnSpc>
                <a:spcPct val="150000"/>
              </a:lnSpc>
              <a:buNone/>
            </a:pPr>
            <a:r>
              <a:rPr lang="en-US" sz="1300" b="1" dirty="0">
                <a:solidFill>
                  <a:srgbClr val="F1F5F9"/>
                </a:solidFill>
                <a:latin typeface="Calibri" pitchFamily="34" charset="0"/>
                <a:ea typeface="Calibri" pitchFamily="34" charset="-122"/>
                <a:cs typeface="Calibri" pitchFamily="34" charset="-120"/>
              </a:rPr>
              <a:t>Shelob Web</a:t>
            </a:r>
            <a:endParaRPr lang="en-US" sz="1300" dirty="0"/>
          </a:p>
          <a:p>
            <a:pPr indent="0" marL="0">
              <a:lnSpc>
                <a:spcPct val="150000"/>
              </a:lnSpc>
              <a:buNone/>
            </a:pPr>
            <a:r>
              <a:rPr lang="en-US" sz="1300" dirty="0">
                <a:solidFill>
                  <a:srgbClr val="64748B"/>
                </a:solidFill>
                <a:latin typeface="Calibri" pitchFamily="34" charset="0"/>
                <a:ea typeface="Calibri" pitchFamily="34" charset="-122"/>
                <a:cs typeface="Calibri" pitchFamily="34" charset="-120"/>
              </a:rPr>
              <a:t>Homepage:  </a:t>
            </a:r>
            <a:pPr indent="0" marL="0">
              <a:lnSpc>
                <a:spcPct val="150000"/>
              </a:lnSpc>
              <a:buNone/>
            </a:pPr>
            <a:r>
              <a:rPr lang="en-US" sz="1300" dirty="0">
                <a:solidFill>
                  <a:srgbClr val="818CF8"/>
                </a:solidFill>
                <a:latin typeface="Calibri" pitchFamily="34" charset="0"/>
                <a:ea typeface="Calibri" pitchFamily="34" charset="-122"/>
                <a:cs typeface="Calibri" pitchFamily="34" charset="-120"/>
              </a:rPr>
              <a:t>https://shelobweb.com</a:t>
            </a:r>
            <a:endParaRPr lang="en-US" sz="1300" dirty="0"/>
          </a:p>
          <a:p>
            <a:pPr indent="0" marL="0">
              <a:lnSpc>
                <a:spcPct val="150000"/>
              </a:lnSpc>
              <a:buNone/>
            </a:pPr>
            <a:r>
              <a:rPr lang="en-US" sz="1300" dirty="0">
                <a:solidFill>
                  <a:srgbClr val="64748B"/>
                </a:solidFill>
                <a:latin typeface="Calibri" pitchFamily="34" charset="0"/>
                <a:ea typeface="Calibri" pitchFamily="34" charset="-122"/>
                <a:cs typeface="Calibri" pitchFamily="34" charset="-120"/>
              </a:rPr>
              <a:t>Privacy Policy:  </a:t>
            </a:r>
            <a:pPr indent="0" marL="0">
              <a:lnSpc>
                <a:spcPct val="150000"/>
              </a:lnSpc>
              <a:buNone/>
            </a:pPr>
            <a:r>
              <a:rPr lang="en-US" sz="1300" dirty="0">
                <a:solidFill>
                  <a:srgbClr val="818CF8"/>
                </a:solidFill>
                <a:latin typeface="Calibri" pitchFamily="34" charset="0"/>
                <a:ea typeface="Calibri" pitchFamily="34" charset="-122"/>
                <a:cs typeface="Calibri" pitchFamily="34" charset="-120"/>
              </a:rPr>
              <a:t>https://shelobweb.com/policies</a:t>
            </a:r>
            <a:endParaRPr lang="en-US" sz="1300" dirty="0"/>
          </a:p>
          <a:p>
            <a:pPr indent="0" marL="0">
              <a:lnSpc>
                <a:spcPct val="150000"/>
              </a:lnSpc>
              <a:buNone/>
            </a:pPr>
            <a:r>
              <a:rPr lang="en-US" sz="1300" dirty="0">
                <a:solidFill>
                  <a:srgbClr val="64748B"/>
                </a:solidFill>
                <a:latin typeface="Calibri" pitchFamily="34" charset="0"/>
                <a:ea typeface="Calibri" pitchFamily="34" charset="-122"/>
                <a:cs typeface="Calibri" pitchFamily="34" charset="-120"/>
              </a:rPr>
              <a:t>OAuth Callback:  </a:t>
            </a:r>
            <a:pPr indent="0" marL="0">
              <a:lnSpc>
                <a:spcPct val="150000"/>
              </a:lnSpc>
              <a:buNone/>
            </a:pPr>
            <a:r>
              <a:rPr lang="en-US" sz="1300" dirty="0">
                <a:solidFill>
                  <a:srgbClr val="818CF8"/>
                </a:solidFill>
                <a:latin typeface="Calibri" pitchFamily="34" charset="0"/>
                <a:ea typeface="Calibri" pitchFamily="34" charset="-122"/>
                <a:cs typeface="Calibri" pitchFamily="34" charset="-120"/>
              </a:rPr>
              <a:t>https://shelobweb.com/api/oauth/google/callback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C1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p:spPr>
      </p:sp>
      <p:sp>
        <p:nvSpPr>
          <p:cNvPr id="3" name="Text 1"/>
          <p:cNvSpPr/>
          <p:nvPr/>
        </p:nvSpPr>
        <p:spPr>
          <a:xfrm>
            <a:off x="731520" y="365760"/>
            <a:ext cx="914400" cy="365760"/>
          </a:xfrm>
          <a:prstGeom prst="rect">
            <a:avLst/>
          </a:prstGeom>
          <a:noFill/>
          <a:ln/>
        </p:spPr>
        <p:txBody>
          <a:bodyPr wrap="square" lIns="0" tIns="0" rIns="0" bIns="0" rtlCol="0" anchor="ctr"/>
          <a:lstStyle/>
          <a:p>
            <a:pPr indent="0" marL="0">
              <a:buNone/>
            </a:pPr>
            <a:r>
              <a:rPr lang="en-US" sz="1400" dirty="0">
                <a:solidFill>
                  <a:srgbClr val="6366F1"/>
                </a:solidFill>
                <a:latin typeface="Consolas" pitchFamily="34" charset="0"/>
                <a:ea typeface="Consolas" pitchFamily="34" charset="-122"/>
                <a:cs typeface="Consolas" pitchFamily="34" charset="-120"/>
              </a:rPr>
              <a:t>01</a:t>
            </a:r>
            <a:endParaRPr lang="en-US" sz="1400" dirty="0"/>
          </a:p>
        </p:txBody>
      </p:sp>
      <p:sp>
        <p:nvSpPr>
          <p:cNvPr id="4" name="Text 2"/>
          <p:cNvSpPr/>
          <p:nvPr/>
        </p:nvSpPr>
        <p:spPr>
          <a:xfrm>
            <a:off x="731520" y="685800"/>
            <a:ext cx="7315200" cy="548640"/>
          </a:xfrm>
          <a:prstGeom prst="rect">
            <a:avLst/>
          </a:prstGeom>
          <a:noFill/>
          <a:ln/>
        </p:spPr>
        <p:txBody>
          <a:bodyPr wrap="square" lIns="0" tIns="0" rIns="0" bIns="0" rtlCol="0" anchor="ctr"/>
          <a:lstStyle/>
          <a:p>
            <a:pPr indent="0" marL="0">
              <a:buNone/>
            </a:pPr>
            <a:r>
              <a:rPr lang="en-US" sz="3000" b="1" dirty="0">
                <a:solidFill>
                  <a:srgbClr val="F1F5F9"/>
                </a:solidFill>
                <a:latin typeface="Calibri" pitchFamily="34" charset="0"/>
                <a:ea typeface="Calibri" pitchFamily="34" charset="-122"/>
                <a:cs typeface="Calibri" pitchFamily="34" charset="-120"/>
              </a:rPr>
              <a:t>What Shelob Web Does</a:t>
            </a:r>
            <a:endParaRPr lang="en-US" sz="3000" dirty="0"/>
          </a:p>
        </p:txBody>
      </p:sp>
      <p:sp>
        <p:nvSpPr>
          <p:cNvPr id="5" name="Text 3"/>
          <p:cNvSpPr/>
          <p:nvPr/>
        </p:nvSpPr>
        <p:spPr>
          <a:xfrm>
            <a:off x="731520" y="1371600"/>
            <a:ext cx="7680960" cy="731520"/>
          </a:xfrm>
          <a:prstGeom prst="rect">
            <a:avLst/>
          </a:prstGeom>
          <a:noFill/>
          <a:ln/>
        </p:spPr>
        <p:txBody>
          <a:bodyPr wrap="square" lIns="0" tIns="0" rIns="0" bIns="0" rtlCol="0" anchor="ctr"/>
          <a:lstStyle/>
          <a:p>
            <a:pPr indent="0" marL="0">
              <a:lnSpc>
                <a:spcPct val="160000"/>
              </a:lnSpc>
              <a:buNone/>
            </a:pPr>
            <a:r>
              <a:rPr lang="en-US" sz="1400" dirty="0">
                <a:solidFill>
                  <a:srgbClr val="94A3B8"/>
                </a:solidFill>
                <a:latin typeface="Calibri" pitchFamily="34" charset="0"/>
                <a:ea typeface="Calibri" pitchFamily="34" charset="-122"/>
                <a:cs typeface="Calibri" pitchFamily="34" charset="-120"/>
              </a:rPr>
              <a:t>Shelob Web is a website health monitoring dashboard that runs automated nightly audits on our users' websites. It checks SEO, Core Web Vitals, accessibility, AI readiness, and broken links across all pages in the sitemap.</a:t>
            </a:r>
            <a:endParaRPr lang="en-US" sz="1400" dirty="0"/>
          </a:p>
        </p:txBody>
      </p:sp>
      <p:sp>
        <p:nvSpPr>
          <p:cNvPr id="6" name="Shape 4"/>
          <p:cNvSpPr/>
          <p:nvPr/>
        </p:nvSpPr>
        <p:spPr>
          <a:xfrm>
            <a:off x="731520" y="2377440"/>
            <a:ext cx="7680960" cy="960120"/>
          </a:xfrm>
          <a:prstGeom prst="rect">
            <a:avLst/>
          </a:prstGeom>
          <a:solidFill>
            <a:srgbClr val="131624"/>
          </a:solidFill>
          <a:ln w="12700">
            <a:solidFill>
              <a:srgbClr val="1E2235"/>
            </a:solidFill>
            <a:prstDash val="solid"/>
          </a:ln>
          <a:effectLst>
            <a:outerShdw sx="100000" sy="100000" kx="0" ky="0" algn="bl" rotWithShape="0" blurRad="127000" dist="38100" dir="8100000">
              <a:srgbClr val="000000">
                <a:alpha val="30000"/>
              </a:srgbClr>
            </a:outerShdw>
          </a:effectLst>
        </p:spPr>
      </p:sp>
      <p:sp>
        <p:nvSpPr>
          <p:cNvPr id="7" name="Shape 5"/>
          <p:cNvSpPr/>
          <p:nvPr/>
        </p:nvSpPr>
        <p:spPr>
          <a:xfrm>
            <a:off x="731520" y="2377440"/>
            <a:ext cx="54864" cy="960120"/>
          </a:xfrm>
          <a:prstGeom prst="rect">
            <a:avLst/>
          </a:prstGeom>
          <a:solidFill>
            <a:srgbClr val="34D399"/>
          </a:solidFill>
          <a:ln/>
        </p:spPr>
      </p:sp>
      <p:sp>
        <p:nvSpPr>
          <p:cNvPr id="8" name="Text 6"/>
          <p:cNvSpPr/>
          <p:nvPr/>
        </p:nvSpPr>
        <p:spPr>
          <a:xfrm>
            <a:off x="1005840" y="2487168"/>
            <a:ext cx="3657600" cy="32004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Google Analytics 4</a:t>
            </a:r>
            <a:endParaRPr lang="en-US" sz="1500" dirty="0"/>
          </a:p>
        </p:txBody>
      </p:sp>
      <p:sp>
        <p:nvSpPr>
          <p:cNvPr id="9" name="Text 7"/>
          <p:cNvSpPr/>
          <p:nvPr/>
        </p:nvSpPr>
        <p:spPr>
          <a:xfrm>
            <a:off x="5029200" y="2505456"/>
            <a:ext cx="3200400" cy="274320"/>
          </a:xfrm>
          <a:prstGeom prst="rect">
            <a:avLst/>
          </a:prstGeom>
          <a:noFill/>
          <a:ln/>
        </p:spPr>
        <p:txBody>
          <a:bodyPr wrap="square" lIns="0" tIns="0" rIns="0" bIns="0" rtlCol="0" anchor="ctr"/>
          <a:lstStyle/>
          <a:p>
            <a:pPr algn="r" indent="0" marL="0">
              <a:buNone/>
            </a:pPr>
            <a:r>
              <a:rPr lang="en-US" sz="1000" dirty="0">
                <a:solidFill>
                  <a:srgbClr val="34D399"/>
                </a:solidFill>
                <a:latin typeface="Consolas" pitchFamily="34" charset="0"/>
                <a:ea typeface="Consolas" pitchFamily="34" charset="-122"/>
                <a:cs typeface="Consolas" pitchFamily="34" charset="-120"/>
              </a:rPr>
              <a:t>analytics.readonly</a:t>
            </a:r>
            <a:endParaRPr lang="en-US" sz="1000" dirty="0"/>
          </a:p>
        </p:txBody>
      </p:sp>
      <p:sp>
        <p:nvSpPr>
          <p:cNvPr id="10" name="Text 8"/>
          <p:cNvSpPr/>
          <p:nvPr/>
        </p:nvSpPr>
        <p:spPr>
          <a:xfrm>
            <a:off x="1005840" y="2834640"/>
            <a:ext cx="713232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Sessions, bounce rate, engagement rate, page views, session duration, top pages</a:t>
            </a:r>
            <a:endParaRPr lang="en-US" sz="1200" dirty="0"/>
          </a:p>
        </p:txBody>
      </p:sp>
      <p:sp>
        <p:nvSpPr>
          <p:cNvPr id="11" name="Shape 9"/>
          <p:cNvSpPr/>
          <p:nvPr/>
        </p:nvSpPr>
        <p:spPr>
          <a:xfrm>
            <a:off x="731520" y="3520440"/>
            <a:ext cx="7680960" cy="960120"/>
          </a:xfrm>
          <a:prstGeom prst="rect">
            <a:avLst/>
          </a:prstGeom>
          <a:solidFill>
            <a:srgbClr val="131624"/>
          </a:solidFill>
          <a:ln w="12700">
            <a:solidFill>
              <a:srgbClr val="1E2235"/>
            </a:solidFill>
            <a:prstDash val="solid"/>
          </a:ln>
          <a:effectLst>
            <a:outerShdw sx="100000" sy="100000" kx="0" ky="0" algn="bl" rotWithShape="0" blurRad="127000" dist="38100" dir="8100000">
              <a:srgbClr val="000000">
                <a:alpha val="30000"/>
              </a:srgbClr>
            </a:outerShdw>
          </a:effectLst>
        </p:spPr>
      </p:sp>
      <p:sp>
        <p:nvSpPr>
          <p:cNvPr id="12" name="Shape 10"/>
          <p:cNvSpPr/>
          <p:nvPr/>
        </p:nvSpPr>
        <p:spPr>
          <a:xfrm>
            <a:off x="731520" y="3520440"/>
            <a:ext cx="54864" cy="960120"/>
          </a:xfrm>
          <a:prstGeom prst="rect">
            <a:avLst/>
          </a:prstGeom>
          <a:solidFill>
            <a:srgbClr val="818CF8"/>
          </a:solidFill>
          <a:ln/>
        </p:spPr>
      </p:sp>
      <p:sp>
        <p:nvSpPr>
          <p:cNvPr id="13" name="Text 11"/>
          <p:cNvSpPr/>
          <p:nvPr/>
        </p:nvSpPr>
        <p:spPr>
          <a:xfrm>
            <a:off x="1005840" y="3630168"/>
            <a:ext cx="3657600" cy="32004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Google Search Console</a:t>
            </a:r>
            <a:endParaRPr lang="en-US" sz="1500" dirty="0"/>
          </a:p>
        </p:txBody>
      </p:sp>
      <p:sp>
        <p:nvSpPr>
          <p:cNvPr id="14" name="Text 12"/>
          <p:cNvSpPr/>
          <p:nvPr/>
        </p:nvSpPr>
        <p:spPr>
          <a:xfrm>
            <a:off x="5029200" y="3648456"/>
            <a:ext cx="3200400" cy="274320"/>
          </a:xfrm>
          <a:prstGeom prst="rect">
            <a:avLst/>
          </a:prstGeom>
          <a:noFill/>
          <a:ln/>
        </p:spPr>
        <p:txBody>
          <a:bodyPr wrap="square" lIns="0" tIns="0" rIns="0" bIns="0" rtlCol="0" anchor="ctr"/>
          <a:lstStyle/>
          <a:p>
            <a:pPr algn="r" indent="0" marL="0">
              <a:buNone/>
            </a:pPr>
            <a:r>
              <a:rPr lang="en-US" sz="1000" dirty="0">
                <a:solidFill>
                  <a:srgbClr val="818CF8"/>
                </a:solidFill>
                <a:latin typeface="Consolas" pitchFamily="34" charset="0"/>
                <a:ea typeface="Consolas" pitchFamily="34" charset="-122"/>
                <a:cs typeface="Consolas" pitchFamily="34" charset="-120"/>
              </a:rPr>
              <a:t>webmasters.readonly</a:t>
            </a:r>
            <a:endParaRPr lang="en-US" sz="1000" dirty="0"/>
          </a:p>
        </p:txBody>
      </p:sp>
      <p:sp>
        <p:nvSpPr>
          <p:cNvPr id="15" name="Text 13"/>
          <p:cNvSpPr/>
          <p:nvPr/>
        </p:nvSpPr>
        <p:spPr>
          <a:xfrm>
            <a:off x="1005840" y="3977640"/>
            <a:ext cx="713232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Keywords, clicks, impressions, CTR, average position, ranking opportunities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C1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p:spPr>
      </p:sp>
      <p:sp>
        <p:nvSpPr>
          <p:cNvPr id="3" name="Text 1"/>
          <p:cNvSpPr/>
          <p:nvPr/>
        </p:nvSpPr>
        <p:spPr>
          <a:xfrm>
            <a:off x="731520" y="365760"/>
            <a:ext cx="914400" cy="365760"/>
          </a:xfrm>
          <a:prstGeom prst="rect">
            <a:avLst/>
          </a:prstGeom>
          <a:noFill/>
          <a:ln/>
        </p:spPr>
        <p:txBody>
          <a:bodyPr wrap="square" lIns="0" tIns="0" rIns="0" bIns="0" rtlCol="0" anchor="ctr"/>
          <a:lstStyle/>
          <a:p>
            <a:pPr indent="0" marL="0">
              <a:buNone/>
            </a:pPr>
            <a:r>
              <a:rPr lang="en-US" sz="1400" dirty="0">
                <a:solidFill>
                  <a:srgbClr val="6366F1"/>
                </a:solidFill>
                <a:latin typeface="Consolas" pitchFamily="34" charset="0"/>
                <a:ea typeface="Consolas" pitchFamily="34" charset="-122"/>
                <a:cs typeface="Consolas" pitchFamily="34" charset="-120"/>
              </a:rPr>
              <a:t>02</a:t>
            </a:r>
            <a:endParaRPr lang="en-US" sz="1400" dirty="0"/>
          </a:p>
        </p:txBody>
      </p:sp>
      <p:sp>
        <p:nvSpPr>
          <p:cNvPr id="4" name="Text 2"/>
          <p:cNvSpPr/>
          <p:nvPr/>
        </p:nvSpPr>
        <p:spPr>
          <a:xfrm>
            <a:off x="731520" y="685800"/>
            <a:ext cx="7315200" cy="548640"/>
          </a:xfrm>
          <a:prstGeom prst="rect">
            <a:avLst/>
          </a:prstGeom>
          <a:noFill/>
          <a:ln/>
        </p:spPr>
        <p:txBody>
          <a:bodyPr wrap="square" lIns="0" tIns="0" rIns="0" bIns="0" rtlCol="0" anchor="ctr"/>
          <a:lstStyle/>
          <a:p>
            <a:pPr indent="0" marL="0">
              <a:buNone/>
            </a:pPr>
            <a:r>
              <a:rPr lang="en-US" sz="3000" b="1" dirty="0">
                <a:solidFill>
                  <a:srgbClr val="F1F5F9"/>
                </a:solidFill>
                <a:latin typeface="Calibri" pitchFamily="34" charset="0"/>
                <a:ea typeface="Calibri" pitchFamily="34" charset="-122"/>
                <a:cs typeface="Calibri" pitchFamily="34" charset="-120"/>
              </a:rPr>
              <a:t>Why We Need Each Scope</a:t>
            </a:r>
            <a:endParaRPr lang="en-US" sz="3000" dirty="0"/>
          </a:p>
        </p:txBody>
      </p:sp>
      <p:sp>
        <p:nvSpPr>
          <p:cNvPr id="5" name="Shape 3"/>
          <p:cNvSpPr/>
          <p:nvPr/>
        </p:nvSpPr>
        <p:spPr>
          <a:xfrm>
            <a:off x="731520" y="1417320"/>
            <a:ext cx="7680960" cy="1554480"/>
          </a:xfrm>
          <a:prstGeom prst="rect">
            <a:avLst/>
          </a:prstGeom>
          <a:solidFill>
            <a:srgbClr val="131624"/>
          </a:solidFill>
          <a:ln w="12700">
            <a:solidFill>
              <a:srgbClr val="1E2235"/>
            </a:solidFill>
            <a:prstDash val="solid"/>
          </a:ln>
          <a:effectLst>
            <a:outerShdw sx="100000" sy="100000" kx="0" ky="0" algn="bl" rotWithShape="0" blurRad="127000" dist="38100" dir="8100000">
              <a:srgbClr val="000000">
                <a:alpha val="30000"/>
              </a:srgbClr>
            </a:outerShdw>
          </a:effectLst>
        </p:spPr>
      </p:sp>
      <p:sp>
        <p:nvSpPr>
          <p:cNvPr id="6" name="Shape 4"/>
          <p:cNvSpPr/>
          <p:nvPr/>
        </p:nvSpPr>
        <p:spPr>
          <a:xfrm>
            <a:off x="731520" y="1417320"/>
            <a:ext cx="54864" cy="1554480"/>
          </a:xfrm>
          <a:prstGeom prst="rect">
            <a:avLst/>
          </a:prstGeom>
          <a:solidFill>
            <a:srgbClr val="34D399"/>
          </a:solidFill>
          <a:ln/>
        </p:spPr>
      </p:sp>
      <p:sp>
        <p:nvSpPr>
          <p:cNvPr id="7" name="Text 5"/>
          <p:cNvSpPr/>
          <p:nvPr/>
        </p:nvSpPr>
        <p:spPr>
          <a:xfrm>
            <a:off x="1005840" y="1508760"/>
            <a:ext cx="4572000" cy="320040"/>
          </a:xfrm>
          <a:prstGeom prst="rect">
            <a:avLst/>
          </a:prstGeom>
          <a:noFill/>
          <a:ln/>
        </p:spPr>
        <p:txBody>
          <a:bodyPr wrap="square" lIns="0" tIns="0" rIns="0" bIns="0" rtlCol="0" anchor="ctr"/>
          <a:lstStyle/>
          <a:p>
            <a:pPr indent="0" marL="0">
              <a:buNone/>
            </a:pPr>
            <a:r>
              <a:rPr lang="en-US" sz="1400" b="1" dirty="0">
                <a:solidFill>
                  <a:srgbClr val="34D399"/>
                </a:solidFill>
                <a:latin typeface="Consolas" pitchFamily="34" charset="0"/>
                <a:ea typeface="Consolas" pitchFamily="34" charset="-122"/>
                <a:cs typeface="Consolas" pitchFamily="34" charset="-120"/>
              </a:rPr>
              <a:t>analytics.readonly</a:t>
            </a:r>
            <a:endParaRPr lang="en-US" sz="1400" dirty="0"/>
          </a:p>
        </p:txBody>
      </p:sp>
      <p:sp>
        <p:nvSpPr>
          <p:cNvPr id="8" name="Text 6"/>
          <p:cNvSpPr/>
          <p:nvPr/>
        </p:nvSpPr>
        <p:spPr>
          <a:xfrm>
            <a:off x="5029200" y="1536192"/>
            <a:ext cx="3200400" cy="274320"/>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Google Analytics Data API v1beta</a:t>
            </a:r>
            <a:endParaRPr lang="en-US" sz="1100" dirty="0"/>
          </a:p>
        </p:txBody>
      </p:sp>
      <p:sp>
        <p:nvSpPr>
          <p:cNvPr id="9" name="Text 7"/>
          <p:cNvSpPr/>
          <p:nvPr/>
        </p:nvSpPr>
        <p:spPr>
          <a:xfrm>
            <a:off x="1005840" y="1874520"/>
            <a:ext cx="7132320" cy="1005840"/>
          </a:xfrm>
          <a:prstGeom prst="rect">
            <a:avLst/>
          </a:prstGeom>
          <a:noFill/>
          <a:ln/>
        </p:spPr>
        <p:txBody>
          <a:bodyPr wrap="square" lIns="0" tIns="0" rIns="0" bIns="0" rtlCol="0" anchor="ctr"/>
          <a:lstStyle/>
          <a:p>
            <a:pPr indent="0" marL="0">
              <a:lnSpc>
                <a:spcPct val="140000"/>
              </a:lnSpc>
              <a:buNone/>
            </a:pPr>
            <a:r>
              <a:rPr lang="en-US" sz="1200" dirty="0">
                <a:solidFill>
                  <a:srgbClr val="94A3B8"/>
                </a:solidFill>
                <a:latin typeface="Calibri" pitchFamily="34" charset="0"/>
                <a:ea typeface="Calibri" pitchFamily="34" charset="-122"/>
                <a:cs typeface="Calibri" pitchFamily="34" charset="-120"/>
              </a:rPr>
              <a:t>We use this scope to read aggregated analytics data from GA4 properties:</a:t>
            </a:r>
            <a:endParaRPr lang="en-US" sz="1200" dirty="0"/>
          </a:p>
          <a:p>
            <a:pPr marL="342900" indent="-342900">
              <a:lnSpc>
                <a:spcPct val="140000"/>
              </a:lnSpc>
              <a:buSzPct val="100000"/>
              <a:buChar char="•"/>
            </a:pPr>
            <a:r>
              <a:rPr lang="en-US" sz="1200" dirty="0">
                <a:solidFill>
                  <a:srgbClr val="F1F5F9"/>
                </a:solidFill>
                <a:latin typeface="Calibri" pitchFamily="34" charset="0"/>
                <a:ea typeface="Calibri" pitchFamily="34" charset="-122"/>
                <a:cs typeface="Calibri" pitchFamily="34" charset="-120"/>
              </a:rPr>
              <a:t>Sessions, bounce rate, engagement rate, page views, avg session duration</a:t>
            </a:r>
            <a:endParaRPr lang="en-US" sz="1200" dirty="0"/>
          </a:p>
          <a:p>
            <a:pPr marL="342900" indent="-342900">
              <a:lnSpc>
                <a:spcPct val="140000"/>
              </a:lnSpc>
              <a:buSzPct val="100000"/>
              <a:buChar char="•"/>
            </a:pPr>
            <a:r>
              <a:rPr lang="en-US" sz="1200" dirty="0">
                <a:solidFill>
                  <a:srgbClr val="F1F5F9"/>
                </a:solidFill>
                <a:latin typeface="Calibri" pitchFamily="34" charset="0"/>
                <a:ea typeface="Calibri" pitchFamily="34" charset="-122"/>
                <a:cs typeface="Calibri" pitchFamily="34" charset="-120"/>
              </a:rPr>
              <a:t>Top-performing pages by traffic and engagement</a:t>
            </a:r>
            <a:endParaRPr lang="en-US" sz="1200" dirty="0"/>
          </a:p>
          <a:p>
            <a:pPr marL="342900" indent="-342900">
              <a:lnSpc>
                <a:spcPct val="140000"/>
              </a:lnSpc>
              <a:buSzPct val="100000"/>
              <a:buChar char="•"/>
            </a:pPr>
            <a:r>
              <a:rPr lang="en-US" sz="1200" dirty="0">
                <a:solidFill>
                  <a:srgbClr val="F1F5F9"/>
                </a:solidFill>
                <a:latin typeface="Calibri" pitchFamily="34" charset="0"/>
                <a:ea typeface="Calibri" pitchFamily="34" charset="-122"/>
                <a:cs typeface="Calibri" pitchFamily="34" charset="-120"/>
              </a:rPr>
              <a:t>Property listing and auto-discovery via Admin API</a:t>
            </a:r>
            <a:endParaRPr lang="en-US" sz="1200" dirty="0"/>
          </a:p>
          <a:p>
            <a:pPr marL="342900" indent="-342900">
              <a:lnSpc>
                <a:spcPct val="140000"/>
              </a:lnSpc>
              <a:buSzPct val="100000"/>
              <a:buChar char="•"/>
            </a:pPr>
            <a:r>
              <a:rPr lang="en-US" sz="1200" dirty="0">
                <a:solidFill>
                  <a:srgbClr val="FBBF24"/>
                </a:solidFill>
                <a:latin typeface="Calibri" pitchFamily="34" charset="0"/>
                <a:ea typeface="Calibri" pitchFamily="34" charset="-122"/>
                <a:cs typeface="Calibri" pitchFamily="34" charset="-120"/>
              </a:rPr>
              <a:t>Read-only — we never modify any GA4 data or settings</a:t>
            </a:r>
            <a:endParaRPr lang="en-US" sz="1200" dirty="0"/>
          </a:p>
        </p:txBody>
      </p:sp>
      <p:sp>
        <p:nvSpPr>
          <p:cNvPr id="10" name="Shape 8"/>
          <p:cNvSpPr/>
          <p:nvPr/>
        </p:nvSpPr>
        <p:spPr>
          <a:xfrm>
            <a:off x="731520" y="3200400"/>
            <a:ext cx="7680960" cy="1554480"/>
          </a:xfrm>
          <a:prstGeom prst="rect">
            <a:avLst/>
          </a:prstGeom>
          <a:solidFill>
            <a:srgbClr val="131624"/>
          </a:solidFill>
          <a:ln w="12700">
            <a:solidFill>
              <a:srgbClr val="1E2235"/>
            </a:solidFill>
            <a:prstDash val="solid"/>
          </a:ln>
          <a:effectLst>
            <a:outerShdw sx="100000" sy="100000" kx="0" ky="0" algn="bl" rotWithShape="0" blurRad="127000" dist="38100" dir="8100000">
              <a:srgbClr val="000000">
                <a:alpha val="30000"/>
              </a:srgbClr>
            </a:outerShdw>
          </a:effectLst>
        </p:spPr>
      </p:sp>
      <p:sp>
        <p:nvSpPr>
          <p:cNvPr id="11" name="Shape 9"/>
          <p:cNvSpPr/>
          <p:nvPr/>
        </p:nvSpPr>
        <p:spPr>
          <a:xfrm>
            <a:off x="731520" y="3200400"/>
            <a:ext cx="54864" cy="1554480"/>
          </a:xfrm>
          <a:prstGeom prst="rect">
            <a:avLst/>
          </a:prstGeom>
          <a:solidFill>
            <a:srgbClr val="818CF8"/>
          </a:solidFill>
          <a:ln/>
        </p:spPr>
      </p:sp>
      <p:sp>
        <p:nvSpPr>
          <p:cNvPr id="12" name="Text 10"/>
          <p:cNvSpPr/>
          <p:nvPr/>
        </p:nvSpPr>
        <p:spPr>
          <a:xfrm>
            <a:off x="1005840" y="3291840"/>
            <a:ext cx="4572000" cy="320040"/>
          </a:xfrm>
          <a:prstGeom prst="rect">
            <a:avLst/>
          </a:prstGeom>
          <a:noFill/>
          <a:ln/>
        </p:spPr>
        <p:txBody>
          <a:bodyPr wrap="square" lIns="0" tIns="0" rIns="0" bIns="0" rtlCol="0" anchor="ctr"/>
          <a:lstStyle/>
          <a:p>
            <a:pPr indent="0" marL="0">
              <a:buNone/>
            </a:pPr>
            <a:r>
              <a:rPr lang="en-US" sz="1400" b="1" dirty="0">
                <a:solidFill>
                  <a:srgbClr val="818CF8"/>
                </a:solidFill>
                <a:latin typeface="Consolas" pitchFamily="34" charset="0"/>
                <a:ea typeface="Consolas" pitchFamily="34" charset="-122"/>
                <a:cs typeface="Consolas" pitchFamily="34" charset="-120"/>
              </a:rPr>
              <a:t>webmasters.readonly</a:t>
            </a:r>
            <a:endParaRPr lang="en-US" sz="1400" dirty="0"/>
          </a:p>
        </p:txBody>
      </p:sp>
      <p:sp>
        <p:nvSpPr>
          <p:cNvPr id="13" name="Text 11"/>
          <p:cNvSpPr/>
          <p:nvPr/>
        </p:nvSpPr>
        <p:spPr>
          <a:xfrm>
            <a:off x="5029200" y="3319272"/>
            <a:ext cx="3200400" cy="274320"/>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Search Console API</a:t>
            </a:r>
            <a:endParaRPr lang="en-US" sz="1100" dirty="0"/>
          </a:p>
        </p:txBody>
      </p:sp>
      <p:sp>
        <p:nvSpPr>
          <p:cNvPr id="14" name="Text 12"/>
          <p:cNvSpPr/>
          <p:nvPr/>
        </p:nvSpPr>
        <p:spPr>
          <a:xfrm>
            <a:off x="1005840" y="3657600"/>
            <a:ext cx="7132320" cy="1005840"/>
          </a:xfrm>
          <a:prstGeom prst="rect">
            <a:avLst/>
          </a:prstGeom>
          <a:noFill/>
          <a:ln/>
        </p:spPr>
        <p:txBody>
          <a:bodyPr wrap="square" lIns="0" tIns="0" rIns="0" bIns="0" rtlCol="0" anchor="ctr"/>
          <a:lstStyle/>
          <a:p>
            <a:pPr indent="0" marL="0">
              <a:lnSpc>
                <a:spcPct val="140000"/>
              </a:lnSpc>
              <a:buNone/>
            </a:pPr>
            <a:r>
              <a:rPr lang="en-US" sz="1200" dirty="0">
                <a:solidFill>
                  <a:srgbClr val="94A3B8"/>
                </a:solidFill>
                <a:latin typeface="Calibri" pitchFamily="34" charset="0"/>
                <a:ea typeface="Calibri" pitchFamily="34" charset="-122"/>
                <a:cs typeface="Calibri" pitchFamily="34" charset="-120"/>
              </a:rPr>
              <a:t>We use this scope to read search performance data from Google Search Console:</a:t>
            </a:r>
            <a:endParaRPr lang="en-US" sz="1200" dirty="0"/>
          </a:p>
          <a:p>
            <a:pPr marL="342900" indent="-342900">
              <a:lnSpc>
                <a:spcPct val="140000"/>
              </a:lnSpc>
              <a:buSzPct val="100000"/>
              <a:buChar char="•"/>
            </a:pPr>
            <a:r>
              <a:rPr lang="en-US" sz="1200" dirty="0">
                <a:solidFill>
                  <a:srgbClr val="F1F5F9"/>
                </a:solidFill>
                <a:latin typeface="Calibri" pitchFamily="34" charset="0"/>
                <a:ea typeface="Calibri" pitchFamily="34" charset="-122"/>
                <a:cs typeface="Calibri" pitchFamily="34" charset="-120"/>
              </a:rPr>
              <a:t>Top search queries, clicks, impressions, CTR, and average position</a:t>
            </a:r>
            <a:endParaRPr lang="en-US" sz="1200" dirty="0"/>
          </a:p>
          <a:p>
            <a:pPr marL="342900" indent="-342900">
              <a:lnSpc>
                <a:spcPct val="140000"/>
              </a:lnSpc>
              <a:buSzPct val="100000"/>
              <a:buChar char="•"/>
            </a:pPr>
            <a:r>
              <a:rPr lang="en-US" sz="1200" dirty="0">
                <a:solidFill>
                  <a:srgbClr val="F1F5F9"/>
                </a:solidFill>
                <a:latin typeface="Calibri" pitchFamily="34" charset="0"/>
                <a:ea typeface="Calibri" pitchFamily="34" charset="-122"/>
                <a:cs typeface="Calibri" pitchFamily="34" charset="-120"/>
              </a:rPr>
              <a:t>Keyword ranking opportunities (queries positioned 8-20)</a:t>
            </a:r>
            <a:endParaRPr lang="en-US" sz="1200" dirty="0"/>
          </a:p>
          <a:p>
            <a:pPr marL="342900" indent="-342900">
              <a:lnSpc>
                <a:spcPct val="140000"/>
              </a:lnSpc>
              <a:buSzPct val="100000"/>
              <a:buChar char="•"/>
            </a:pPr>
            <a:r>
              <a:rPr lang="en-US" sz="1200" dirty="0">
                <a:solidFill>
                  <a:srgbClr val="F1F5F9"/>
                </a:solidFill>
                <a:latin typeface="Calibri" pitchFamily="34" charset="0"/>
                <a:ea typeface="Calibri" pitchFamily="34" charset="-122"/>
                <a:cs typeface="Calibri" pitchFamily="34" charset="-120"/>
              </a:rPr>
              <a:t>Property listing for auto-discovery during OAuth</a:t>
            </a:r>
            <a:endParaRPr lang="en-US" sz="1200" dirty="0"/>
          </a:p>
          <a:p>
            <a:pPr marL="342900" indent="-342900">
              <a:lnSpc>
                <a:spcPct val="140000"/>
              </a:lnSpc>
              <a:buSzPct val="100000"/>
              <a:buChar char="•"/>
            </a:pPr>
            <a:r>
              <a:rPr lang="en-US" sz="1200" dirty="0">
                <a:solidFill>
                  <a:srgbClr val="FBBF24"/>
                </a:solidFill>
                <a:latin typeface="Calibri" pitchFamily="34" charset="0"/>
                <a:ea typeface="Calibri" pitchFamily="34" charset="-122"/>
                <a:cs typeface="Calibri" pitchFamily="34" charset="-120"/>
              </a:rPr>
              <a:t>Read-only — we never submit URLs, sitemaps, or modify any data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C1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p:spPr>
      </p:sp>
      <p:sp>
        <p:nvSpPr>
          <p:cNvPr id="3" name="Text 1"/>
          <p:cNvSpPr/>
          <p:nvPr/>
        </p:nvSpPr>
        <p:spPr>
          <a:xfrm>
            <a:off x="731520" y="365760"/>
            <a:ext cx="914400" cy="365760"/>
          </a:xfrm>
          <a:prstGeom prst="rect">
            <a:avLst/>
          </a:prstGeom>
          <a:noFill/>
          <a:ln/>
        </p:spPr>
        <p:txBody>
          <a:bodyPr wrap="square" lIns="0" tIns="0" rIns="0" bIns="0" rtlCol="0" anchor="ctr"/>
          <a:lstStyle/>
          <a:p>
            <a:pPr indent="0" marL="0">
              <a:buNone/>
            </a:pPr>
            <a:r>
              <a:rPr lang="en-US" sz="1400" dirty="0">
                <a:solidFill>
                  <a:srgbClr val="6366F1"/>
                </a:solidFill>
                <a:latin typeface="Consolas" pitchFamily="34" charset="0"/>
                <a:ea typeface="Consolas" pitchFamily="34" charset="-122"/>
                <a:cs typeface="Consolas" pitchFamily="34" charset="-120"/>
              </a:rPr>
              <a:t>03</a:t>
            </a:r>
            <a:endParaRPr lang="en-US" sz="1400" dirty="0"/>
          </a:p>
        </p:txBody>
      </p:sp>
      <p:sp>
        <p:nvSpPr>
          <p:cNvPr id="4" name="Text 2"/>
          <p:cNvSpPr/>
          <p:nvPr/>
        </p:nvSpPr>
        <p:spPr>
          <a:xfrm>
            <a:off x="731520" y="685800"/>
            <a:ext cx="7315200" cy="548640"/>
          </a:xfrm>
          <a:prstGeom prst="rect">
            <a:avLst/>
          </a:prstGeom>
          <a:noFill/>
          <a:ln/>
        </p:spPr>
        <p:txBody>
          <a:bodyPr wrap="square" lIns="0" tIns="0" rIns="0" bIns="0" rtlCol="0" anchor="ctr"/>
          <a:lstStyle/>
          <a:p>
            <a:pPr indent="0" marL="0">
              <a:buNone/>
            </a:pPr>
            <a:r>
              <a:rPr lang="en-US" sz="3000" b="1" dirty="0">
                <a:solidFill>
                  <a:srgbClr val="F1F5F9"/>
                </a:solidFill>
                <a:latin typeface="Calibri" pitchFamily="34" charset="0"/>
                <a:ea typeface="Calibri" pitchFamily="34" charset="-122"/>
                <a:cs typeface="Calibri" pitchFamily="34" charset="-120"/>
              </a:rPr>
              <a:t>OAuth Consent Flow — Step by Step</a:t>
            </a:r>
            <a:endParaRPr lang="en-US" sz="3000" dirty="0"/>
          </a:p>
        </p:txBody>
      </p:sp>
      <p:sp>
        <p:nvSpPr>
          <p:cNvPr id="5" name="Text 3"/>
          <p:cNvSpPr/>
          <p:nvPr/>
        </p:nvSpPr>
        <p:spPr>
          <a:xfrm>
            <a:off x="731520" y="1234440"/>
            <a:ext cx="7680960" cy="365760"/>
          </a:xfrm>
          <a:prstGeom prst="rect">
            <a:avLst/>
          </a:prstGeom>
          <a:noFill/>
          <a:ln/>
        </p:spPr>
        <p:txBody>
          <a:bodyPr wrap="square" lIns="0" tIns="0" rIns="0" bIns="0" rtlCol="0" anchor="ctr"/>
          <a:lstStyle/>
          <a:p>
            <a:pPr indent="0" marL="0">
              <a:buNone/>
            </a:pPr>
            <a:r>
              <a:rPr lang="en-US" sz="1300" i="1" dirty="0">
                <a:solidFill>
                  <a:srgbClr val="FBBF24"/>
                </a:solidFill>
                <a:latin typeface="Calibri" pitchFamily="34" charset="0"/>
                <a:ea typeface="Calibri" pitchFamily="34" charset="-122"/>
                <a:cs typeface="Calibri" pitchFamily="34" charset="-120"/>
              </a:rPr>
              <a:t>Record your screen performing these steps. This is the core of the video.</a:t>
            </a:r>
            <a:endParaRPr lang="en-US" sz="1300" dirty="0"/>
          </a:p>
        </p:txBody>
      </p:sp>
      <p:sp>
        <p:nvSpPr>
          <p:cNvPr id="6" name="Shape 4"/>
          <p:cNvSpPr/>
          <p:nvPr/>
        </p:nvSpPr>
        <p:spPr>
          <a:xfrm>
            <a:off x="731520" y="1828800"/>
            <a:ext cx="347472" cy="347472"/>
          </a:xfrm>
          <a:prstGeom prst="ellipse">
            <a:avLst/>
          </a:prstGeom>
          <a:solidFill>
            <a:srgbClr val="6366F1"/>
          </a:solidFill>
          <a:ln/>
        </p:spPr>
      </p:sp>
      <p:sp>
        <p:nvSpPr>
          <p:cNvPr id="7" name="Text 5"/>
          <p:cNvSpPr/>
          <p:nvPr/>
        </p:nvSpPr>
        <p:spPr>
          <a:xfrm>
            <a:off x="731520" y="1828800"/>
            <a:ext cx="347472" cy="347472"/>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34440" y="1783080"/>
            <a:ext cx="2743200" cy="292608"/>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Open Settings in Dashboard</a:t>
            </a:r>
            <a:endParaRPr lang="en-US" sz="1400" dirty="0"/>
          </a:p>
        </p:txBody>
      </p:sp>
      <p:sp>
        <p:nvSpPr>
          <p:cNvPr id="9" name="Text 7"/>
          <p:cNvSpPr/>
          <p:nvPr/>
        </p:nvSpPr>
        <p:spPr>
          <a:xfrm>
            <a:off x="1234440" y="2057400"/>
            <a:ext cx="71323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Log in at shelobweb.com → Navigate to Settings. Show a property with no Google integration connected yet.</a:t>
            </a:r>
            <a:endParaRPr lang="en-US" sz="1100" dirty="0"/>
          </a:p>
        </p:txBody>
      </p:sp>
      <p:sp>
        <p:nvSpPr>
          <p:cNvPr id="10" name="Shape 8"/>
          <p:cNvSpPr/>
          <p:nvPr/>
        </p:nvSpPr>
        <p:spPr>
          <a:xfrm>
            <a:off x="731520" y="2441448"/>
            <a:ext cx="347472" cy="347472"/>
          </a:xfrm>
          <a:prstGeom prst="ellipse">
            <a:avLst/>
          </a:prstGeom>
          <a:solidFill>
            <a:srgbClr val="6366F1"/>
          </a:solidFill>
          <a:ln/>
        </p:spPr>
      </p:sp>
      <p:sp>
        <p:nvSpPr>
          <p:cNvPr id="11" name="Text 9"/>
          <p:cNvSpPr/>
          <p:nvPr/>
        </p:nvSpPr>
        <p:spPr>
          <a:xfrm>
            <a:off x="731520" y="2441448"/>
            <a:ext cx="347472" cy="347472"/>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234440" y="2395728"/>
            <a:ext cx="2743200" cy="292608"/>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Click "Connect Google"</a:t>
            </a:r>
            <a:endParaRPr lang="en-US" sz="1400" dirty="0"/>
          </a:p>
        </p:txBody>
      </p:sp>
      <p:sp>
        <p:nvSpPr>
          <p:cNvPr id="13" name="Text 11"/>
          <p:cNvSpPr/>
          <p:nvPr/>
        </p:nvSpPr>
        <p:spPr>
          <a:xfrm>
            <a:off x="1234440" y="2670048"/>
            <a:ext cx="71323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Click the Connect Google button on a property card. This initiates the OAuth flow and redirects to Google's consent screen.</a:t>
            </a:r>
            <a:endParaRPr lang="en-US" sz="1100" dirty="0"/>
          </a:p>
        </p:txBody>
      </p:sp>
      <p:sp>
        <p:nvSpPr>
          <p:cNvPr id="14" name="Shape 12"/>
          <p:cNvSpPr/>
          <p:nvPr/>
        </p:nvSpPr>
        <p:spPr>
          <a:xfrm>
            <a:off x="731520" y="3054096"/>
            <a:ext cx="347472" cy="347472"/>
          </a:xfrm>
          <a:prstGeom prst="ellipse">
            <a:avLst/>
          </a:prstGeom>
          <a:solidFill>
            <a:srgbClr val="6366F1"/>
          </a:solidFill>
          <a:ln/>
        </p:spPr>
      </p:sp>
      <p:sp>
        <p:nvSpPr>
          <p:cNvPr id="15" name="Text 13"/>
          <p:cNvSpPr/>
          <p:nvPr/>
        </p:nvSpPr>
        <p:spPr>
          <a:xfrm>
            <a:off x="731520" y="3054096"/>
            <a:ext cx="347472" cy="347472"/>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234440" y="3008376"/>
            <a:ext cx="2743200" cy="292608"/>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Google Consent Screen</a:t>
            </a:r>
            <a:endParaRPr lang="en-US" sz="1400" dirty="0"/>
          </a:p>
        </p:txBody>
      </p:sp>
      <p:sp>
        <p:nvSpPr>
          <p:cNvPr id="17" name="Text 15"/>
          <p:cNvSpPr/>
          <p:nvPr/>
        </p:nvSpPr>
        <p:spPr>
          <a:xfrm>
            <a:off x="1234440" y="3282696"/>
            <a:ext cx="71323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Show the Google consent screen requesting analytics.readonly and webmasters.readonly. Select your Google account and click Allow.</a:t>
            </a:r>
            <a:endParaRPr lang="en-US" sz="1100" dirty="0"/>
          </a:p>
        </p:txBody>
      </p:sp>
      <p:sp>
        <p:nvSpPr>
          <p:cNvPr id="18" name="Shape 16"/>
          <p:cNvSpPr/>
          <p:nvPr/>
        </p:nvSpPr>
        <p:spPr>
          <a:xfrm>
            <a:off x="731520" y="3666744"/>
            <a:ext cx="347472" cy="347472"/>
          </a:xfrm>
          <a:prstGeom prst="ellipse">
            <a:avLst/>
          </a:prstGeom>
          <a:solidFill>
            <a:srgbClr val="6366F1"/>
          </a:solidFill>
          <a:ln/>
        </p:spPr>
      </p:sp>
      <p:sp>
        <p:nvSpPr>
          <p:cNvPr id="19" name="Text 17"/>
          <p:cNvSpPr/>
          <p:nvPr/>
        </p:nvSpPr>
        <p:spPr>
          <a:xfrm>
            <a:off x="731520" y="3666744"/>
            <a:ext cx="347472" cy="347472"/>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234440" y="3621024"/>
            <a:ext cx="2743200" cy="292608"/>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Redirect Back to Shelob Web</a:t>
            </a:r>
            <a:endParaRPr lang="en-US" sz="1400" dirty="0"/>
          </a:p>
        </p:txBody>
      </p:sp>
      <p:sp>
        <p:nvSpPr>
          <p:cNvPr id="21" name="Text 19"/>
          <p:cNvSpPr/>
          <p:nvPr/>
        </p:nvSpPr>
        <p:spPr>
          <a:xfrm>
            <a:off x="1234440" y="3895344"/>
            <a:ext cx="71323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After granting consent, Google redirects back to shelobweb.com/api/oauth/google/callback. A success message is shown.</a:t>
            </a:r>
            <a:endParaRPr lang="en-US" sz="1100" dirty="0"/>
          </a:p>
        </p:txBody>
      </p:sp>
      <p:sp>
        <p:nvSpPr>
          <p:cNvPr id="22" name="Shape 20"/>
          <p:cNvSpPr/>
          <p:nvPr/>
        </p:nvSpPr>
        <p:spPr>
          <a:xfrm>
            <a:off x="731520" y="4279392"/>
            <a:ext cx="347472" cy="347472"/>
          </a:xfrm>
          <a:prstGeom prst="ellipse">
            <a:avLst/>
          </a:prstGeom>
          <a:solidFill>
            <a:srgbClr val="6366F1"/>
          </a:solidFill>
          <a:ln/>
        </p:spPr>
      </p:sp>
      <p:sp>
        <p:nvSpPr>
          <p:cNvPr id="23" name="Text 21"/>
          <p:cNvSpPr/>
          <p:nvPr/>
        </p:nvSpPr>
        <p:spPr>
          <a:xfrm>
            <a:off x="731520" y="4279392"/>
            <a:ext cx="347472" cy="347472"/>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234440" y="4233672"/>
            <a:ext cx="2743200" cy="292608"/>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Data Appears in Dashboard</a:t>
            </a:r>
            <a:endParaRPr lang="en-US" sz="1400" dirty="0"/>
          </a:p>
        </p:txBody>
      </p:sp>
      <p:sp>
        <p:nvSpPr>
          <p:cNvPr id="25" name="Text 23"/>
          <p:cNvSpPr/>
          <p:nvPr/>
        </p:nvSpPr>
        <p:spPr>
          <a:xfrm>
            <a:off x="1234440" y="4507992"/>
            <a:ext cx="71323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Return to the dashboard. Show the GA4 tab (sessions, bounce rate, pages) and the Search Console tab (keywords, clicks, impressions).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C1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p:spPr>
      </p:sp>
      <p:sp>
        <p:nvSpPr>
          <p:cNvPr id="3" name="Text 1"/>
          <p:cNvSpPr/>
          <p:nvPr/>
        </p:nvSpPr>
        <p:spPr>
          <a:xfrm>
            <a:off x="731520" y="365760"/>
            <a:ext cx="914400" cy="365760"/>
          </a:xfrm>
          <a:prstGeom prst="rect">
            <a:avLst/>
          </a:prstGeom>
          <a:noFill/>
          <a:ln/>
        </p:spPr>
        <p:txBody>
          <a:bodyPr wrap="square" lIns="0" tIns="0" rIns="0" bIns="0" rtlCol="0" anchor="ctr"/>
          <a:lstStyle/>
          <a:p>
            <a:pPr indent="0" marL="0">
              <a:buNone/>
            </a:pPr>
            <a:r>
              <a:rPr lang="en-US" sz="1400" dirty="0">
                <a:solidFill>
                  <a:srgbClr val="6366F1"/>
                </a:solidFill>
                <a:latin typeface="Consolas" pitchFamily="34" charset="0"/>
                <a:ea typeface="Consolas" pitchFamily="34" charset="-122"/>
                <a:cs typeface="Consolas" pitchFamily="34" charset="-120"/>
              </a:rPr>
              <a:t>04</a:t>
            </a:r>
            <a:endParaRPr lang="en-US" sz="1400" dirty="0"/>
          </a:p>
        </p:txBody>
      </p:sp>
      <p:sp>
        <p:nvSpPr>
          <p:cNvPr id="4" name="Text 2"/>
          <p:cNvSpPr/>
          <p:nvPr/>
        </p:nvSpPr>
        <p:spPr>
          <a:xfrm>
            <a:off x="731520" y="685800"/>
            <a:ext cx="7315200" cy="548640"/>
          </a:xfrm>
          <a:prstGeom prst="rect">
            <a:avLst/>
          </a:prstGeom>
          <a:noFill/>
          <a:ln/>
        </p:spPr>
        <p:txBody>
          <a:bodyPr wrap="square" lIns="0" tIns="0" rIns="0" bIns="0" rtlCol="0" anchor="ctr"/>
          <a:lstStyle/>
          <a:p>
            <a:pPr indent="0" marL="0">
              <a:buNone/>
            </a:pPr>
            <a:r>
              <a:rPr lang="en-US" sz="3000" b="1" dirty="0">
                <a:solidFill>
                  <a:srgbClr val="F1F5F9"/>
                </a:solidFill>
                <a:latin typeface="Calibri" pitchFamily="34" charset="0"/>
                <a:ea typeface="Calibri" pitchFamily="34" charset="-122"/>
                <a:cs typeface="Calibri" pitchFamily="34" charset="-120"/>
              </a:rPr>
              <a:t>Where Scope Data Appears in the App</a:t>
            </a:r>
            <a:endParaRPr lang="en-US" sz="3000" dirty="0"/>
          </a:p>
        </p:txBody>
      </p:sp>
      <p:sp>
        <p:nvSpPr>
          <p:cNvPr id="5" name="Text 3"/>
          <p:cNvSpPr/>
          <p:nvPr/>
        </p:nvSpPr>
        <p:spPr>
          <a:xfrm>
            <a:off x="731520" y="1234440"/>
            <a:ext cx="7680960" cy="365760"/>
          </a:xfrm>
          <a:prstGeom prst="rect">
            <a:avLst/>
          </a:prstGeom>
          <a:noFill/>
          <a:ln/>
        </p:spPr>
        <p:txBody>
          <a:bodyPr wrap="square" lIns="0" tIns="0" rIns="0" bIns="0" rtlCol="0" anchor="ctr"/>
          <a:lstStyle/>
          <a:p>
            <a:pPr indent="0" marL="0">
              <a:buNone/>
            </a:pPr>
            <a:r>
              <a:rPr lang="en-US" sz="1300" i="1" dirty="0">
                <a:solidFill>
                  <a:srgbClr val="FBBF24"/>
                </a:solidFill>
                <a:latin typeface="Calibri" pitchFamily="34" charset="0"/>
                <a:ea typeface="Calibri" pitchFamily="34" charset="-122"/>
                <a:cs typeface="Calibri" pitchFamily="34" charset="-120"/>
              </a:rPr>
              <a:t>Show each of these sections during the screen recording.</a:t>
            </a:r>
            <a:endParaRPr lang="en-US" sz="1300" dirty="0"/>
          </a:p>
        </p:txBody>
      </p:sp>
      <p:sp>
        <p:nvSpPr>
          <p:cNvPr id="6" name="Shape 4"/>
          <p:cNvSpPr/>
          <p:nvPr/>
        </p:nvSpPr>
        <p:spPr>
          <a:xfrm>
            <a:off x="731520" y="1783080"/>
            <a:ext cx="3657600" cy="2377440"/>
          </a:xfrm>
          <a:prstGeom prst="rect">
            <a:avLst/>
          </a:prstGeom>
          <a:solidFill>
            <a:srgbClr val="131624"/>
          </a:solidFill>
          <a:ln w="12700">
            <a:solidFill>
              <a:srgbClr val="1E2235"/>
            </a:solidFill>
            <a:prstDash val="solid"/>
          </a:ln>
          <a:effectLst>
            <a:outerShdw sx="100000" sy="100000" kx="0" ky="0" algn="bl" rotWithShape="0" blurRad="127000" dist="38100" dir="8100000">
              <a:srgbClr val="000000">
                <a:alpha val="30000"/>
              </a:srgbClr>
            </a:outerShdw>
          </a:effectLst>
        </p:spPr>
      </p:sp>
      <p:sp>
        <p:nvSpPr>
          <p:cNvPr id="7" name="Shape 5"/>
          <p:cNvSpPr/>
          <p:nvPr/>
        </p:nvSpPr>
        <p:spPr>
          <a:xfrm>
            <a:off x="731520" y="1783080"/>
            <a:ext cx="3657600" cy="54864"/>
          </a:xfrm>
          <a:prstGeom prst="rect">
            <a:avLst/>
          </a:prstGeom>
          <a:solidFill>
            <a:srgbClr val="34D399"/>
          </a:solidFill>
          <a:ln/>
        </p:spPr>
      </p:sp>
      <p:sp>
        <p:nvSpPr>
          <p:cNvPr id="8" name="Text 6"/>
          <p:cNvSpPr/>
          <p:nvPr/>
        </p:nvSpPr>
        <p:spPr>
          <a:xfrm>
            <a:off x="960120" y="1965960"/>
            <a:ext cx="3200400" cy="32004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GA4 Tab  (analytics.readonly)</a:t>
            </a:r>
            <a:endParaRPr lang="en-US" sz="1400" dirty="0"/>
          </a:p>
        </p:txBody>
      </p:sp>
      <p:sp>
        <p:nvSpPr>
          <p:cNvPr id="9" name="Text 7"/>
          <p:cNvSpPr/>
          <p:nvPr/>
        </p:nvSpPr>
        <p:spPr>
          <a:xfrm>
            <a:off x="960120" y="2331720"/>
            <a:ext cx="3200400" cy="1737360"/>
          </a:xfrm>
          <a:prstGeom prst="rect">
            <a:avLst/>
          </a:prstGeom>
          <a:noFill/>
          <a:ln/>
        </p:spPr>
        <p:txBody>
          <a:bodyPr wrap="square" lIns="0" tIns="0" rIns="0" bIns="0" rtlCol="0" anchor="ctr"/>
          <a:lstStyle/>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Property selector dropdown</a:t>
            </a:r>
            <a:endParaRPr lang="en-US" sz="1200" dirty="0"/>
          </a:p>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Sessions count</a:t>
            </a:r>
            <a:endParaRPr lang="en-US" sz="1200" dirty="0"/>
          </a:p>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Bounce rate percentage</a:t>
            </a:r>
            <a:endParaRPr lang="en-US" sz="1200" dirty="0"/>
          </a:p>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Engagement rate</a:t>
            </a:r>
            <a:endParaRPr lang="en-US" sz="1200" dirty="0"/>
          </a:p>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Page views</a:t>
            </a:r>
            <a:endParaRPr lang="en-US" sz="1200" dirty="0"/>
          </a:p>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Avg session duration</a:t>
            </a:r>
            <a:endParaRPr lang="en-US" sz="1200" dirty="0"/>
          </a:p>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Top pages table</a:t>
            </a:r>
            <a:endParaRPr lang="en-US" sz="1200" dirty="0"/>
          </a:p>
        </p:txBody>
      </p:sp>
      <p:sp>
        <p:nvSpPr>
          <p:cNvPr id="10" name="Shape 8"/>
          <p:cNvSpPr/>
          <p:nvPr/>
        </p:nvSpPr>
        <p:spPr>
          <a:xfrm>
            <a:off x="4754880" y="1783080"/>
            <a:ext cx="3657600" cy="2377440"/>
          </a:xfrm>
          <a:prstGeom prst="rect">
            <a:avLst/>
          </a:prstGeom>
          <a:solidFill>
            <a:srgbClr val="131624"/>
          </a:solidFill>
          <a:ln w="12700">
            <a:solidFill>
              <a:srgbClr val="1E2235"/>
            </a:solidFill>
            <a:prstDash val="solid"/>
          </a:ln>
          <a:effectLst>
            <a:outerShdw sx="100000" sy="100000" kx="0" ky="0" algn="bl" rotWithShape="0" blurRad="127000" dist="38100" dir="8100000">
              <a:srgbClr val="000000">
                <a:alpha val="30000"/>
              </a:srgbClr>
            </a:outerShdw>
          </a:effectLst>
        </p:spPr>
      </p:sp>
      <p:sp>
        <p:nvSpPr>
          <p:cNvPr id="11" name="Shape 9"/>
          <p:cNvSpPr/>
          <p:nvPr/>
        </p:nvSpPr>
        <p:spPr>
          <a:xfrm>
            <a:off x="4754880" y="1783080"/>
            <a:ext cx="3657600" cy="54864"/>
          </a:xfrm>
          <a:prstGeom prst="rect">
            <a:avLst/>
          </a:prstGeom>
          <a:solidFill>
            <a:srgbClr val="818CF8"/>
          </a:solidFill>
          <a:ln/>
        </p:spPr>
      </p:sp>
      <p:sp>
        <p:nvSpPr>
          <p:cNvPr id="12" name="Text 10"/>
          <p:cNvSpPr/>
          <p:nvPr/>
        </p:nvSpPr>
        <p:spPr>
          <a:xfrm>
            <a:off x="4983480" y="1965960"/>
            <a:ext cx="3200400" cy="320040"/>
          </a:xfrm>
          <a:prstGeom prst="rect">
            <a:avLst/>
          </a:prstGeom>
          <a:noFill/>
          <a:ln/>
        </p:spPr>
        <p:txBody>
          <a:bodyPr wrap="square" lIns="0" tIns="0" rIns="0" bIns="0" rtlCol="0" anchor="ctr"/>
          <a:lstStyle/>
          <a:p>
            <a:pPr indent="0" marL="0">
              <a:buNone/>
            </a:pPr>
            <a:r>
              <a:rPr lang="en-US" sz="1400" b="1" dirty="0">
                <a:solidFill>
                  <a:srgbClr val="818CF8"/>
                </a:solidFill>
                <a:latin typeface="Calibri" pitchFamily="34" charset="0"/>
                <a:ea typeface="Calibri" pitchFamily="34" charset="-122"/>
                <a:cs typeface="Calibri" pitchFamily="34" charset="-120"/>
              </a:rPr>
              <a:t>Search Tab  (webmasters.readonly)</a:t>
            </a:r>
            <a:endParaRPr lang="en-US" sz="1400" dirty="0"/>
          </a:p>
        </p:txBody>
      </p:sp>
      <p:sp>
        <p:nvSpPr>
          <p:cNvPr id="13" name="Text 11"/>
          <p:cNvSpPr/>
          <p:nvPr/>
        </p:nvSpPr>
        <p:spPr>
          <a:xfrm>
            <a:off x="4983480" y="2331720"/>
            <a:ext cx="3200400" cy="1737360"/>
          </a:xfrm>
          <a:prstGeom prst="rect">
            <a:avLst/>
          </a:prstGeom>
          <a:noFill/>
          <a:ln/>
        </p:spPr>
        <p:txBody>
          <a:bodyPr wrap="square" lIns="0" tIns="0" rIns="0" bIns="0" rtlCol="0" anchor="ctr"/>
          <a:lstStyle/>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Top search queries table</a:t>
            </a:r>
            <a:endParaRPr lang="en-US" sz="1200" dirty="0"/>
          </a:p>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Clicks per keyword</a:t>
            </a:r>
            <a:endParaRPr lang="en-US" sz="1200" dirty="0"/>
          </a:p>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Impressions</a:t>
            </a:r>
            <a:endParaRPr lang="en-US" sz="1200" dirty="0"/>
          </a:p>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Click-through rate (CTR)</a:t>
            </a:r>
            <a:endParaRPr lang="en-US" sz="1200" dirty="0"/>
          </a:p>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Average position</a:t>
            </a:r>
            <a:endParaRPr lang="en-US" sz="1200" dirty="0"/>
          </a:p>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Ranking opportunities (pos 8-20)</a:t>
            </a:r>
            <a:endParaRPr lang="en-US" sz="1200" dirty="0"/>
          </a:p>
          <a:p>
            <a:pPr marL="342900" indent="-342900">
              <a:lnSpc>
                <a:spcPct val="120000"/>
              </a:lnSpc>
              <a:buSzPct val="100000"/>
              <a:buChar char="•"/>
            </a:pPr>
            <a:r>
              <a:rPr lang="en-US" sz="1200" dirty="0">
                <a:solidFill>
                  <a:srgbClr val="94A3B8"/>
                </a:solidFill>
                <a:latin typeface="Calibri" pitchFamily="34" charset="0"/>
                <a:ea typeface="Calibri" pitchFamily="34" charset="-122"/>
                <a:cs typeface="Calibri" pitchFamily="34" charset="-120"/>
              </a:rPr>
              <a:t>Indexed page count</a:t>
            </a:r>
            <a:endParaRPr lang="en-US" sz="1200" dirty="0"/>
          </a:p>
        </p:txBody>
      </p:sp>
      <p:sp>
        <p:nvSpPr>
          <p:cNvPr id="14" name="Shape 12"/>
          <p:cNvSpPr/>
          <p:nvPr/>
        </p:nvSpPr>
        <p:spPr>
          <a:xfrm>
            <a:off x="731520" y="4389120"/>
            <a:ext cx="7680960" cy="457200"/>
          </a:xfrm>
          <a:prstGeom prst="rect">
            <a:avLst/>
          </a:prstGeom>
          <a:solidFill>
            <a:srgbClr val="6366F1">
              <a:alpha val="12000"/>
            </a:srgbClr>
          </a:solidFill>
          <a:ln w="12700">
            <a:solidFill>
              <a:srgbClr val="6366F1"/>
            </a:solidFill>
            <a:prstDash val="solid"/>
          </a:ln>
        </p:spPr>
      </p:sp>
      <p:sp>
        <p:nvSpPr>
          <p:cNvPr id="15" name="Text 13"/>
          <p:cNvSpPr/>
          <p:nvPr/>
        </p:nvSpPr>
        <p:spPr>
          <a:xfrm>
            <a:off x="914400" y="4389120"/>
            <a:ext cx="7315200" cy="457200"/>
          </a:xfrm>
          <a:prstGeom prst="rect">
            <a:avLst/>
          </a:prstGeom>
          <a:noFill/>
          <a:ln/>
        </p:spPr>
        <p:txBody>
          <a:bodyPr wrap="square" lIns="0" tIns="0" rIns="0" bIns="0" rtlCol="0" anchor="ctr"/>
          <a:lstStyle/>
          <a:p>
            <a:pPr indent="0" marL="0">
              <a:buNone/>
            </a:pPr>
            <a:r>
              <a:rPr lang="en-US" sz="1200" dirty="0">
                <a:solidFill>
                  <a:srgbClr val="A5B4FC"/>
                </a:solidFill>
                <a:latin typeface="Calibri" pitchFamily="34" charset="0"/>
                <a:ea typeface="Calibri" pitchFamily="34" charset="-122"/>
                <a:cs typeface="Calibri" pitchFamily="34" charset="-120"/>
              </a:rPr>
              <a:t>All data is displayed read-only. Users cannot modify, delete, or write any data back to Google services.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C1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p:spPr>
      </p:sp>
      <p:sp>
        <p:nvSpPr>
          <p:cNvPr id="3" name="Text 1"/>
          <p:cNvSpPr/>
          <p:nvPr/>
        </p:nvSpPr>
        <p:spPr>
          <a:xfrm>
            <a:off x="731520" y="365760"/>
            <a:ext cx="914400" cy="365760"/>
          </a:xfrm>
          <a:prstGeom prst="rect">
            <a:avLst/>
          </a:prstGeom>
          <a:noFill/>
          <a:ln/>
        </p:spPr>
        <p:txBody>
          <a:bodyPr wrap="square" lIns="0" tIns="0" rIns="0" bIns="0" rtlCol="0" anchor="ctr"/>
          <a:lstStyle/>
          <a:p>
            <a:pPr indent="0" marL="0">
              <a:buNone/>
            </a:pPr>
            <a:r>
              <a:rPr lang="en-US" sz="1400" dirty="0">
                <a:solidFill>
                  <a:srgbClr val="6366F1"/>
                </a:solidFill>
                <a:latin typeface="Consolas" pitchFamily="34" charset="0"/>
                <a:ea typeface="Consolas" pitchFamily="34" charset="-122"/>
                <a:cs typeface="Consolas" pitchFamily="34" charset="-120"/>
              </a:rPr>
              <a:t>05</a:t>
            </a:r>
            <a:endParaRPr lang="en-US" sz="1400" dirty="0"/>
          </a:p>
        </p:txBody>
      </p:sp>
      <p:sp>
        <p:nvSpPr>
          <p:cNvPr id="4" name="Text 2"/>
          <p:cNvSpPr/>
          <p:nvPr/>
        </p:nvSpPr>
        <p:spPr>
          <a:xfrm>
            <a:off x="731520" y="685800"/>
            <a:ext cx="7315200" cy="548640"/>
          </a:xfrm>
          <a:prstGeom prst="rect">
            <a:avLst/>
          </a:prstGeom>
          <a:noFill/>
          <a:ln/>
        </p:spPr>
        <p:txBody>
          <a:bodyPr wrap="square" lIns="0" tIns="0" rIns="0" bIns="0" rtlCol="0" anchor="ctr"/>
          <a:lstStyle/>
          <a:p>
            <a:pPr indent="0" marL="0">
              <a:buNone/>
            </a:pPr>
            <a:r>
              <a:rPr lang="en-US" sz="3000" b="1" dirty="0">
                <a:solidFill>
                  <a:srgbClr val="F1F5F9"/>
                </a:solidFill>
                <a:latin typeface="Calibri" pitchFamily="34" charset="0"/>
                <a:ea typeface="Calibri" pitchFamily="34" charset="-122"/>
                <a:cs typeface="Calibri" pitchFamily="34" charset="-120"/>
              </a:rPr>
              <a:t>How Users Revoke Access</a:t>
            </a:r>
            <a:endParaRPr lang="en-US" sz="3000" dirty="0"/>
          </a:p>
        </p:txBody>
      </p:sp>
      <p:sp>
        <p:nvSpPr>
          <p:cNvPr id="5" name="Text 3"/>
          <p:cNvSpPr/>
          <p:nvPr/>
        </p:nvSpPr>
        <p:spPr>
          <a:xfrm>
            <a:off x="731520" y="1234440"/>
            <a:ext cx="7680960" cy="365760"/>
          </a:xfrm>
          <a:prstGeom prst="rect">
            <a:avLst/>
          </a:prstGeom>
          <a:noFill/>
          <a:ln/>
        </p:spPr>
        <p:txBody>
          <a:bodyPr wrap="square" lIns="0" tIns="0" rIns="0" bIns="0" rtlCol="0" anchor="ctr"/>
          <a:lstStyle/>
          <a:p>
            <a:pPr indent="0" marL="0">
              <a:buNone/>
            </a:pPr>
            <a:r>
              <a:rPr lang="en-US" sz="1300" i="1" dirty="0">
                <a:solidFill>
                  <a:srgbClr val="FBBF24"/>
                </a:solidFill>
                <a:latin typeface="Calibri" pitchFamily="34" charset="0"/>
                <a:ea typeface="Calibri" pitchFamily="34" charset="-122"/>
                <a:cs typeface="Calibri" pitchFamily="34" charset="-120"/>
              </a:rPr>
              <a:t>Show the disconnect flow during the screen recording.</a:t>
            </a:r>
            <a:endParaRPr lang="en-US" sz="1300" dirty="0"/>
          </a:p>
        </p:txBody>
      </p:sp>
      <p:sp>
        <p:nvSpPr>
          <p:cNvPr id="6" name="Shape 4"/>
          <p:cNvSpPr/>
          <p:nvPr/>
        </p:nvSpPr>
        <p:spPr>
          <a:xfrm>
            <a:off x="731520" y="1828800"/>
            <a:ext cx="3657600" cy="2194560"/>
          </a:xfrm>
          <a:prstGeom prst="rect">
            <a:avLst/>
          </a:prstGeom>
          <a:solidFill>
            <a:srgbClr val="131624"/>
          </a:solidFill>
          <a:ln w="12700">
            <a:solidFill>
              <a:srgbClr val="1E2235"/>
            </a:solidFill>
            <a:prstDash val="solid"/>
          </a:ln>
          <a:effectLst>
            <a:outerShdw sx="100000" sy="100000" kx="0" ky="0" algn="bl" rotWithShape="0" blurRad="127000" dist="38100" dir="8100000">
              <a:srgbClr val="000000">
                <a:alpha val="30000"/>
              </a:srgbClr>
            </a:outerShdw>
          </a:effectLst>
        </p:spPr>
      </p:sp>
      <p:sp>
        <p:nvSpPr>
          <p:cNvPr id="7" name="Shape 5"/>
          <p:cNvSpPr/>
          <p:nvPr/>
        </p:nvSpPr>
        <p:spPr>
          <a:xfrm>
            <a:off x="731520" y="1828800"/>
            <a:ext cx="3657600" cy="54864"/>
          </a:xfrm>
          <a:prstGeom prst="rect">
            <a:avLst/>
          </a:prstGeom>
          <a:solidFill>
            <a:srgbClr val="34D399"/>
          </a:solidFill>
          <a:ln/>
        </p:spPr>
      </p:sp>
      <p:sp>
        <p:nvSpPr>
          <p:cNvPr id="8" name="Text 6"/>
          <p:cNvSpPr/>
          <p:nvPr/>
        </p:nvSpPr>
        <p:spPr>
          <a:xfrm>
            <a:off x="960120" y="2011680"/>
            <a:ext cx="3200400" cy="32004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In-App Disconnect</a:t>
            </a:r>
            <a:endParaRPr lang="en-US" sz="1600" dirty="0"/>
          </a:p>
        </p:txBody>
      </p:sp>
      <p:sp>
        <p:nvSpPr>
          <p:cNvPr id="9" name="Text 7"/>
          <p:cNvSpPr/>
          <p:nvPr/>
        </p:nvSpPr>
        <p:spPr>
          <a:xfrm>
            <a:off x="960120" y="2423160"/>
            <a:ext cx="3200400" cy="1371600"/>
          </a:xfrm>
          <a:prstGeom prst="rect">
            <a:avLst/>
          </a:prstGeom>
          <a:noFill/>
          <a:ln/>
        </p:spPr>
        <p:txBody>
          <a:bodyPr wrap="square" lIns="0" tIns="0" rIns="0" bIns="0" rtlCol="0" anchor="ctr"/>
          <a:lstStyle/>
          <a:p>
            <a:pPr marL="342900" indent="-342900">
              <a:lnSpc>
                <a:spcPct val="140000"/>
              </a:lnSpc>
              <a:buSzPct val="100000"/>
              <a:buChar char="•"/>
            </a:pPr>
            <a:r>
              <a:rPr lang="en-US" sz="1200" dirty="0">
                <a:solidFill>
                  <a:srgbClr val="94A3B8"/>
                </a:solidFill>
                <a:latin typeface="Calibri" pitchFamily="34" charset="0"/>
                <a:ea typeface="Calibri" pitchFamily="34" charset="-122"/>
                <a:cs typeface="Calibri" pitchFamily="34" charset="-120"/>
              </a:rPr>
              <a:t>Go to Settings in the dashboard</a:t>
            </a:r>
            <a:endParaRPr lang="en-US" sz="1200" dirty="0"/>
          </a:p>
          <a:p>
            <a:pPr marL="342900" indent="-342900">
              <a:lnSpc>
                <a:spcPct val="140000"/>
              </a:lnSpc>
              <a:buSzPct val="100000"/>
              <a:buChar char="•"/>
            </a:pPr>
            <a:r>
              <a:rPr lang="en-US" sz="1200" dirty="0">
                <a:solidFill>
                  <a:srgbClr val="94A3B8"/>
                </a:solidFill>
                <a:latin typeface="Calibri" pitchFamily="34" charset="0"/>
                <a:ea typeface="Calibri" pitchFamily="34" charset="-122"/>
                <a:cs typeface="Calibri" pitchFamily="34" charset="-120"/>
              </a:rPr>
              <a:t>Each property shows a "Disconnect" button next to the Google integration status</a:t>
            </a:r>
            <a:endParaRPr lang="en-US" sz="1200" dirty="0"/>
          </a:p>
          <a:p>
            <a:pPr marL="342900" indent="-342900">
              <a:lnSpc>
                <a:spcPct val="140000"/>
              </a:lnSpc>
              <a:buSzPct val="100000"/>
              <a:buChar char="•"/>
            </a:pPr>
            <a:r>
              <a:rPr lang="en-US" sz="1200" dirty="0">
                <a:solidFill>
                  <a:srgbClr val="94A3B8"/>
                </a:solidFill>
                <a:latin typeface="Calibri" pitchFamily="34" charset="0"/>
                <a:ea typeface="Calibri" pitchFamily="34" charset="-122"/>
                <a:cs typeface="Calibri" pitchFamily="34" charset="-120"/>
              </a:rPr>
              <a:t>Clicking Disconnect removes the stored OAuth refresh token from our database</a:t>
            </a:r>
            <a:endParaRPr lang="en-US" sz="1200" dirty="0"/>
          </a:p>
          <a:p>
            <a:pPr marL="342900" indent="-342900">
              <a:lnSpc>
                <a:spcPct val="140000"/>
              </a:lnSpc>
              <a:buSzPct val="100000"/>
              <a:buChar char="•"/>
            </a:pPr>
            <a:r>
              <a:rPr lang="en-US" sz="1200" dirty="0">
                <a:solidFill>
                  <a:srgbClr val="94A3B8"/>
                </a:solidFill>
                <a:latin typeface="Calibri" pitchFamily="34" charset="0"/>
                <a:ea typeface="Calibri" pitchFamily="34" charset="-122"/>
                <a:cs typeface="Calibri" pitchFamily="34" charset="-120"/>
              </a:rPr>
              <a:t>The property returns to the unconnected state immediately</a:t>
            </a:r>
            <a:endParaRPr lang="en-US" sz="1200" dirty="0"/>
          </a:p>
        </p:txBody>
      </p:sp>
      <p:sp>
        <p:nvSpPr>
          <p:cNvPr id="10" name="Shape 8"/>
          <p:cNvSpPr/>
          <p:nvPr/>
        </p:nvSpPr>
        <p:spPr>
          <a:xfrm>
            <a:off x="4754880" y="1828800"/>
            <a:ext cx="3657600" cy="2194560"/>
          </a:xfrm>
          <a:prstGeom prst="rect">
            <a:avLst/>
          </a:prstGeom>
          <a:solidFill>
            <a:srgbClr val="131624"/>
          </a:solidFill>
          <a:ln w="12700">
            <a:solidFill>
              <a:srgbClr val="1E2235"/>
            </a:solidFill>
            <a:prstDash val="solid"/>
          </a:ln>
          <a:effectLst>
            <a:outerShdw sx="100000" sy="100000" kx="0" ky="0" algn="bl" rotWithShape="0" blurRad="127000" dist="38100" dir="8100000">
              <a:srgbClr val="000000">
                <a:alpha val="30000"/>
              </a:srgbClr>
            </a:outerShdw>
          </a:effectLst>
        </p:spPr>
      </p:sp>
      <p:sp>
        <p:nvSpPr>
          <p:cNvPr id="11" name="Shape 9"/>
          <p:cNvSpPr/>
          <p:nvPr/>
        </p:nvSpPr>
        <p:spPr>
          <a:xfrm>
            <a:off x="4754880" y="1828800"/>
            <a:ext cx="3657600" cy="54864"/>
          </a:xfrm>
          <a:prstGeom prst="rect">
            <a:avLst/>
          </a:prstGeom>
          <a:solidFill>
            <a:srgbClr val="818CF8"/>
          </a:solidFill>
          <a:ln/>
        </p:spPr>
      </p:sp>
      <p:sp>
        <p:nvSpPr>
          <p:cNvPr id="12" name="Text 10"/>
          <p:cNvSpPr/>
          <p:nvPr/>
        </p:nvSpPr>
        <p:spPr>
          <a:xfrm>
            <a:off x="4983480" y="2011680"/>
            <a:ext cx="3200400" cy="32004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Google Account Settings</a:t>
            </a:r>
            <a:endParaRPr lang="en-US" sz="1600" dirty="0"/>
          </a:p>
        </p:txBody>
      </p:sp>
      <p:sp>
        <p:nvSpPr>
          <p:cNvPr id="13" name="Text 11"/>
          <p:cNvSpPr/>
          <p:nvPr/>
        </p:nvSpPr>
        <p:spPr>
          <a:xfrm>
            <a:off x="4983480" y="2423160"/>
            <a:ext cx="3200400" cy="1371600"/>
          </a:xfrm>
          <a:prstGeom prst="rect">
            <a:avLst/>
          </a:prstGeom>
          <a:noFill/>
          <a:ln/>
        </p:spPr>
        <p:txBody>
          <a:bodyPr wrap="square" lIns="0" tIns="0" rIns="0" bIns="0" rtlCol="0" anchor="ctr"/>
          <a:lstStyle/>
          <a:p>
            <a:pPr indent="0" marL="0">
              <a:lnSpc>
                <a:spcPct val="140000"/>
              </a:lnSpc>
              <a:buNone/>
            </a:pPr>
            <a:r>
              <a:rPr lang="en-US" sz="1200" dirty="0">
                <a:solidFill>
                  <a:srgbClr val="94A3B8"/>
                </a:solidFill>
                <a:latin typeface="Calibri" pitchFamily="34" charset="0"/>
                <a:ea typeface="Calibri" pitchFamily="34" charset="-122"/>
                <a:cs typeface="Calibri" pitchFamily="34" charset="-120"/>
              </a:rPr>
              <a:t>Users can also revoke access directly via Google:</a:t>
            </a:r>
            <a:endParaRPr lang="en-US" sz="1200" dirty="0"/>
          </a:p>
          <a:p>
            <a:pPr marL="342900" indent="-342900">
              <a:lnSpc>
                <a:spcPct val="140000"/>
              </a:lnSpc>
              <a:buSzPct val="100000"/>
              <a:buChar char="•"/>
            </a:pPr>
            <a:r>
              <a:rPr lang="en-US" sz="1200" dirty="0">
                <a:solidFill>
                  <a:srgbClr val="94A3B8"/>
                </a:solidFill>
                <a:latin typeface="Calibri" pitchFamily="34" charset="0"/>
                <a:ea typeface="Calibri" pitchFamily="34" charset="-122"/>
                <a:cs typeface="Calibri" pitchFamily="34" charset="-120"/>
              </a:rPr>
              <a:t>Visit myaccount.google.com/permissions</a:t>
            </a:r>
            <a:endParaRPr lang="en-US" sz="1200" dirty="0"/>
          </a:p>
          <a:p>
            <a:pPr marL="342900" indent="-342900">
              <a:lnSpc>
                <a:spcPct val="140000"/>
              </a:lnSpc>
              <a:buSzPct val="100000"/>
              <a:buChar char="•"/>
            </a:pPr>
            <a:r>
              <a:rPr lang="en-US" sz="1200" dirty="0">
                <a:solidFill>
                  <a:srgbClr val="94A3B8"/>
                </a:solidFill>
                <a:latin typeface="Calibri" pitchFamily="34" charset="0"/>
                <a:ea typeface="Calibri" pitchFamily="34" charset="-122"/>
                <a:cs typeface="Calibri" pitchFamily="34" charset="-120"/>
              </a:rPr>
              <a:t>Find "Shelob Web" in the list</a:t>
            </a:r>
            <a:endParaRPr lang="en-US" sz="1200" dirty="0"/>
          </a:p>
          <a:p>
            <a:pPr marL="342900" indent="-342900">
              <a:lnSpc>
                <a:spcPct val="140000"/>
              </a:lnSpc>
              <a:buSzPct val="100000"/>
              <a:buChar char="•"/>
            </a:pPr>
            <a:r>
              <a:rPr lang="en-US" sz="1200" dirty="0">
                <a:solidFill>
                  <a:srgbClr val="94A3B8"/>
                </a:solidFill>
                <a:latin typeface="Calibri" pitchFamily="34" charset="0"/>
                <a:ea typeface="Calibri" pitchFamily="34" charset="-122"/>
                <a:cs typeface="Calibri" pitchFamily="34" charset="-120"/>
              </a:rPr>
              <a:t>Click Remove Access</a:t>
            </a:r>
            <a:endParaRPr lang="en-US" sz="1200" dirty="0"/>
          </a:p>
          <a:p>
            <a:pPr marL="342900" indent="-342900">
              <a:lnSpc>
                <a:spcPct val="140000"/>
              </a:lnSpc>
              <a:buSzPct val="100000"/>
              <a:buChar char="•"/>
            </a:pPr>
            <a:r>
              <a:rPr lang="en-US" sz="1200" dirty="0">
                <a:solidFill>
                  <a:srgbClr val="94A3B8"/>
                </a:solidFill>
                <a:latin typeface="Calibri" pitchFamily="34" charset="0"/>
                <a:ea typeface="Calibri" pitchFamily="34" charset="-122"/>
                <a:cs typeface="Calibri" pitchFamily="34" charset="-120"/>
              </a:rPr>
              <a:t>This instantly invalidates the OAuth token</a:t>
            </a:r>
            <a:endParaRPr lang="en-US" sz="1200" dirty="0"/>
          </a:p>
        </p:txBody>
      </p:sp>
      <p:sp>
        <p:nvSpPr>
          <p:cNvPr id="14" name="Shape 12"/>
          <p:cNvSpPr/>
          <p:nvPr/>
        </p:nvSpPr>
        <p:spPr>
          <a:xfrm>
            <a:off x="731520" y="4297680"/>
            <a:ext cx="7680960" cy="457200"/>
          </a:xfrm>
          <a:prstGeom prst="rect">
            <a:avLst/>
          </a:prstGeom>
          <a:solidFill>
            <a:srgbClr val="131624"/>
          </a:solidFill>
          <a:ln w="12700">
            <a:solidFill>
              <a:srgbClr val="1E2235"/>
            </a:solidFill>
            <a:prstDash val="solid"/>
          </a:ln>
        </p:spPr>
      </p:sp>
      <p:sp>
        <p:nvSpPr>
          <p:cNvPr id="15" name="Text 13"/>
          <p:cNvSpPr/>
          <p:nvPr/>
        </p:nvSpPr>
        <p:spPr>
          <a:xfrm>
            <a:off x="914400" y="4297680"/>
            <a:ext cx="73152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API endpoint:  </a:t>
            </a:r>
            <a:pPr indent="0" marL="0">
              <a:buNone/>
            </a:pPr>
            <a:r>
              <a:rPr lang="en-US" sz="1200" dirty="0">
                <a:solidFill>
                  <a:srgbClr val="818CF8"/>
                </a:solidFill>
                <a:latin typeface="Consolas" pitchFamily="34" charset="0"/>
                <a:ea typeface="Consolas" pitchFamily="34" charset="-122"/>
                <a:cs typeface="Consolas" pitchFamily="34" charset="-120"/>
              </a:rPr>
              <a:t>POST /api/oauth/google/disconnect</a:t>
            </a:r>
            <a:pPr indent="0" marL="0">
              <a:buNone/>
            </a:pPr>
            <a:r>
              <a:rPr lang="en-US" sz="1100" dirty="0">
                <a:solidFill>
                  <a:srgbClr val="64748B"/>
                </a:solidFill>
                <a:latin typeface="Calibri" pitchFamily="34" charset="0"/>
                <a:ea typeface="Calibri" pitchFamily="34" charset="-122"/>
                <a:cs typeface="Calibri" pitchFamily="34" charset="-120"/>
              </a:rPr>
              <a:t>  — deletes encrypted refresh token from D1 database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C1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p:spPr>
      </p:sp>
      <p:sp>
        <p:nvSpPr>
          <p:cNvPr id="3" name="Text 1"/>
          <p:cNvSpPr/>
          <p:nvPr/>
        </p:nvSpPr>
        <p:spPr>
          <a:xfrm>
            <a:off x="731520" y="365760"/>
            <a:ext cx="914400" cy="365760"/>
          </a:xfrm>
          <a:prstGeom prst="rect">
            <a:avLst/>
          </a:prstGeom>
          <a:noFill/>
          <a:ln/>
        </p:spPr>
        <p:txBody>
          <a:bodyPr wrap="square" lIns="0" tIns="0" rIns="0" bIns="0" rtlCol="0" anchor="ctr"/>
          <a:lstStyle/>
          <a:p>
            <a:pPr indent="0" marL="0">
              <a:buNone/>
            </a:pPr>
            <a:r>
              <a:rPr lang="en-US" sz="1400" dirty="0">
                <a:solidFill>
                  <a:srgbClr val="6366F1"/>
                </a:solidFill>
                <a:latin typeface="Consolas" pitchFamily="34" charset="0"/>
                <a:ea typeface="Consolas" pitchFamily="34" charset="-122"/>
                <a:cs typeface="Consolas" pitchFamily="34" charset="-120"/>
              </a:rPr>
              <a:t>06</a:t>
            </a:r>
            <a:endParaRPr lang="en-US" sz="1400" dirty="0"/>
          </a:p>
        </p:txBody>
      </p:sp>
      <p:sp>
        <p:nvSpPr>
          <p:cNvPr id="4" name="Text 2"/>
          <p:cNvSpPr/>
          <p:nvPr/>
        </p:nvSpPr>
        <p:spPr>
          <a:xfrm>
            <a:off x="731520" y="685800"/>
            <a:ext cx="7315200" cy="548640"/>
          </a:xfrm>
          <a:prstGeom prst="rect">
            <a:avLst/>
          </a:prstGeom>
          <a:noFill/>
          <a:ln/>
        </p:spPr>
        <p:txBody>
          <a:bodyPr wrap="square" lIns="0" tIns="0" rIns="0" bIns="0" rtlCol="0" anchor="ctr"/>
          <a:lstStyle/>
          <a:p>
            <a:pPr indent="0" marL="0">
              <a:buNone/>
            </a:pPr>
            <a:r>
              <a:rPr lang="en-US" sz="3000" b="1" dirty="0">
                <a:solidFill>
                  <a:srgbClr val="F1F5F9"/>
                </a:solidFill>
                <a:latin typeface="Calibri" pitchFamily="34" charset="0"/>
                <a:ea typeface="Calibri" pitchFamily="34" charset="-122"/>
                <a:cs typeface="Calibri" pitchFamily="34" charset="-120"/>
              </a:rPr>
              <a:t>Data Handling &amp; Privacy</a:t>
            </a:r>
            <a:endParaRPr lang="en-US" sz="3000" dirty="0"/>
          </a:p>
        </p:txBody>
      </p:sp>
      <p:sp>
        <p:nvSpPr>
          <p:cNvPr id="5" name="Shape 3"/>
          <p:cNvSpPr/>
          <p:nvPr/>
        </p:nvSpPr>
        <p:spPr>
          <a:xfrm>
            <a:off x="731520" y="1527048"/>
            <a:ext cx="201168" cy="201168"/>
          </a:xfrm>
          <a:prstGeom prst="ellipse">
            <a:avLst/>
          </a:prstGeom>
          <a:solidFill>
            <a:srgbClr val="34D399"/>
          </a:solidFill>
          <a:ln/>
        </p:spPr>
      </p:sp>
      <p:sp>
        <p:nvSpPr>
          <p:cNvPr id="6" name="Text 4"/>
          <p:cNvSpPr/>
          <p:nvPr/>
        </p:nvSpPr>
        <p:spPr>
          <a:xfrm>
            <a:off x="1097280" y="1435608"/>
            <a:ext cx="365760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Tokens encrypted at rest</a:t>
            </a:r>
            <a:endParaRPr lang="en-US" sz="1400" dirty="0"/>
          </a:p>
        </p:txBody>
      </p:sp>
      <p:sp>
        <p:nvSpPr>
          <p:cNvPr id="7" name="Text 5"/>
          <p:cNvSpPr/>
          <p:nvPr/>
        </p:nvSpPr>
        <p:spPr>
          <a:xfrm>
            <a:off x="1097280" y="1728216"/>
            <a:ext cx="713232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OAuth refresh tokens are AES-encrypted before storage in Cloudflare D1. Encryption keys are stored as Worker secrets, never in source code.</a:t>
            </a:r>
            <a:endParaRPr lang="en-US" sz="1100" dirty="0"/>
          </a:p>
        </p:txBody>
      </p:sp>
      <p:sp>
        <p:nvSpPr>
          <p:cNvPr id="8" name="Shape 6"/>
          <p:cNvSpPr/>
          <p:nvPr/>
        </p:nvSpPr>
        <p:spPr>
          <a:xfrm>
            <a:off x="731520" y="2240280"/>
            <a:ext cx="201168" cy="201168"/>
          </a:xfrm>
          <a:prstGeom prst="ellipse">
            <a:avLst/>
          </a:prstGeom>
          <a:solidFill>
            <a:srgbClr val="818CF8"/>
          </a:solidFill>
          <a:ln/>
        </p:spPr>
      </p:sp>
      <p:sp>
        <p:nvSpPr>
          <p:cNvPr id="9" name="Text 7"/>
          <p:cNvSpPr/>
          <p:nvPr/>
        </p:nvSpPr>
        <p:spPr>
          <a:xfrm>
            <a:off x="1097280" y="2148840"/>
            <a:ext cx="365760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Read-only access only</a:t>
            </a:r>
            <a:endParaRPr lang="en-US" sz="1400" dirty="0"/>
          </a:p>
        </p:txBody>
      </p:sp>
      <p:sp>
        <p:nvSpPr>
          <p:cNvPr id="10" name="Text 8"/>
          <p:cNvSpPr/>
          <p:nvPr/>
        </p:nvSpPr>
        <p:spPr>
          <a:xfrm>
            <a:off x="1097280" y="2441448"/>
            <a:ext cx="713232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Both scopes are read-only. We never write, modify, or delete any data in Google Analytics or Search Console.</a:t>
            </a:r>
            <a:endParaRPr lang="en-US" sz="1100" dirty="0"/>
          </a:p>
        </p:txBody>
      </p:sp>
      <p:sp>
        <p:nvSpPr>
          <p:cNvPr id="11" name="Shape 9"/>
          <p:cNvSpPr/>
          <p:nvPr/>
        </p:nvSpPr>
        <p:spPr>
          <a:xfrm>
            <a:off x="731520" y="2953512"/>
            <a:ext cx="201168" cy="201168"/>
          </a:xfrm>
          <a:prstGeom prst="ellipse">
            <a:avLst/>
          </a:prstGeom>
          <a:solidFill>
            <a:srgbClr val="C084FC"/>
          </a:solidFill>
          <a:ln/>
        </p:spPr>
      </p:sp>
      <p:sp>
        <p:nvSpPr>
          <p:cNvPr id="12" name="Text 10"/>
          <p:cNvSpPr/>
          <p:nvPr/>
        </p:nvSpPr>
        <p:spPr>
          <a:xfrm>
            <a:off x="1097280" y="2862072"/>
            <a:ext cx="365760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Data is never shared</a:t>
            </a:r>
            <a:endParaRPr lang="en-US" sz="1400" dirty="0"/>
          </a:p>
        </p:txBody>
      </p:sp>
      <p:sp>
        <p:nvSpPr>
          <p:cNvPr id="13" name="Text 11"/>
          <p:cNvSpPr/>
          <p:nvPr/>
        </p:nvSpPr>
        <p:spPr>
          <a:xfrm>
            <a:off x="1097280" y="3154680"/>
            <a:ext cx="713232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Google API data is displayed only to the authenticated user and their authorized team members. We do not sell, share, or transfer data to third parties.</a:t>
            </a:r>
            <a:endParaRPr lang="en-US" sz="1100" dirty="0"/>
          </a:p>
        </p:txBody>
      </p:sp>
      <p:sp>
        <p:nvSpPr>
          <p:cNvPr id="14" name="Shape 12"/>
          <p:cNvSpPr/>
          <p:nvPr/>
        </p:nvSpPr>
        <p:spPr>
          <a:xfrm>
            <a:off x="731520" y="3666744"/>
            <a:ext cx="201168" cy="201168"/>
          </a:xfrm>
          <a:prstGeom prst="ellipse">
            <a:avLst/>
          </a:prstGeom>
          <a:solidFill>
            <a:srgbClr val="FBBF24"/>
          </a:solidFill>
          <a:ln/>
        </p:spPr>
      </p:sp>
      <p:sp>
        <p:nvSpPr>
          <p:cNvPr id="15" name="Text 13"/>
          <p:cNvSpPr/>
          <p:nvPr/>
        </p:nvSpPr>
        <p:spPr>
          <a:xfrm>
            <a:off x="1097280" y="3575304"/>
            <a:ext cx="365760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Minimal data retention</a:t>
            </a:r>
            <a:endParaRPr lang="en-US" sz="1400" dirty="0"/>
          </a:p>
        </p:txBody>
      </p:sp>
      <p:sp>
        <p:nvSpPr>
          <p:cNvPr id="16" name="Text 14"/>
          <p:cNvSpPr/>
          <p:nvPr/>
        </p:nvSpPr>
        <p:spPr>
          <a:xfrm>
            <a:off x="1097280" y="3867912"/>
            <a:ext cx="713232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We only store the refresh token and the GA4 property ID. Analytics data is fetched on-demand from Google's API and is not permanently stored.</a:t>
            </a:r>
            <a:endParaRPr lang="en-US" sz="1100" dirty="0"/>
          </a:p>
        </p:txBody>
      </p:sp>
      <p:sp>
        <p:nvSpPr>
          <p:cNvPr id="17" name="Shape 15"/>
          <p:cNvSpPr/>
          <p:nvPr/>
        </p:nvSpPr>
        <p:spPr>
          <a:xfrm>
            <a:off x="731520" y="4379976"/>
            <a:ext cx="201168" cy="201168"/>
          </a:xfrm>
          <a:prstGeom prst="ellipse">
            <a:avLst/>
          </a:prstGeom>
          <a:solidFill>
            <a:srgbClr val="F1F5F9"/>
          </a:solidFill>
          <a:ln/>
        </p:spPr>
      </p:sp>
      <p:sp>
        <p:nvSpPr>
          <p:cNvPr id="18" name="Text 16"/>
          <p:cNvSpPr/>
          <p:nvPr/>
        </p:nvSpPr>
        <p:spPr>
          <a:xfrm>
            <a:off x="1097280" y="4288536"/>
            <a:ext cx="365760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Published privacy policy</a:t>
            </a:r>
            <a:endParaRPr lang="en-US" sz="1400" dirty="0"/>
          </a:p>
        </p:txBody>
      </p:sp>
      <p:sp>
        <p:nvSpPr>
          <p:cNvPr id="19" name="Text 17"/>
          <p:cNvSpPr/>
          <p:nvPr/>
        </p:nvSpPr>
        <p:spPr>
          <a:xfrm>
            <a:off x="1097280" y="4581144"/>
            <a:ext cx="713232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Full privacy policy available at shelobweb.com/policies — covers data collection, storage, sharing, and user rights.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C1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BBF24"/>
          </a:solidFill>
          <a:ln/>
        </p:spPr>
      </p:sp>
      <p:sp>
        <p:nvSpPr>
          <p:cNvPr id="3" name="Text 1"/>
          <p:cNvSpPr/>
          <p:nvPr/>
        </p:nvSpPr>
        <p:spPr>
          <a:xfrm>
            <a:off x="731520" y="320040"/>
            <a:ext cx="7315200" cy="548640"/>
          </a:xfrm>
          <a:prstGeom prst="rect">
            <a:avLst/>
          </a:prstGeom>
          <a:noFill/>
          <a:ln/>
        </p:spPr>
        <p:txBody>
          <a:bodyPr wrap="square" lIns="0" tIns="0" rIns="0" bIns="0" rtlCol="0" anchor="ctr"/>
          <a:lstStyle/>
          <a:p>
            <a:pPr indent="0" marL="0">
              <a:buNone/>
            </a:pPr>
            <a:r>
              <a:rPr lang="en-US" sz="3000" b="1" dirty="0">
                <a:solidFill>
                  <a:srgbClr val="F1F5F9"/>
                </a:solidFill>
                <a:latin typeface="Calibri" pitchFamily="34" charset="0"/>
                <a:ea typeface="Calibri" pitchFamily="34" charset="-122"/>
                <a:cs typeface="Calibri" pitchFamily="34" charset="-120"/>
              </a:rPr>
              <a:t>Recording Script</a:t>
            </a:r>
            <a:endParaRPr lang="en-US" sz="3000" dirty="0"/>
          </a:p>
        </p:txBody>
      </p:sp>
      <p:sp>
        <p:nvSpPr>
          <p:cNvPr id="4" name="Text 2"/>
          <p:cNvSpPr/>
          <p:nvPr/>
        </p:nvSpPr>
        <p:spPr>
          <a:xfrm>
            <a:off x="731520" y="822960"/>
            <a:ext cx="7680960" cy="320040"/>
          </a:xfrm>
          <a:prstGeom prst="rect">
            <a:avLst/>
          </a:prstGeom>
          <a:noFill/>
          <a:ln/>
        </p:spPr>
        <p:txBody>
          <a:bodyPr wrap="square" lIns="0" tIns="0" rIns="0" bIns="0" rtlCol="0" anchor="ctr"/>
          <a:lstStyle/>
          <a:p>
            <a:pPr indent="0" marL="0">
              <a:buNone/>
            </a:pPr>
            <a:r>
              <a:rPr lang="en-US" sz="1300" i="1" dirty="0">
                <a:solidFill>
                  <a:srgbClr val="FBBF24"/>
                </a:solidFill>
                <a:latin typeface="Calibri" pitchFamily="34" charset="0"/>
                <a:ea typeface="Calibri" pitchFamily="34" charset="-122"/>
                <a:cs typeface="Calibri" pitchFamily="34" charset="-120"/>
              </a:rPr>
              <a:t>Follow this sequence when recording. Keep the video under 3 minutes.</a:t>
            </a:r>
            <a:endParaRPr lang="en-US" sz="1300" dirty="0"/>
          </a:p>
        </p:txBody>
      </p:sp>
      <p:sp>
        <p:nvSpPr>
          <p:cNvPr id="5" name="Shape 3"/>
          <p:cNvSpPr/>
          <p:nvPr/>
        </p:nvSpPr>
        <p:spPr>
          <a:xfrm>
            <a:off x="457200" y="1280160"/>
            <a:ext cx="8229600" cy="301752"/>
          </a:xfrm>
          <a:prstGeom prst="rect">
            <a:avLst/>
          </a:prstGeom>
          <a:solidFill>
            <a:srgbClr val="131624">
              <a:alpha val="50000"/>
            </a:srgbClr>
          </a:solidFill>
          <a:ln/>
        </p:spPr>
      </p:sp>
      <p:sp>
        <p:nvSpPr>
          <p:cNvPr id="6" name="Text 4"/>
          <p:cNvSpPr/>
          <p:nvPr/>
        </p:nvSpPr>
        <p:spPr>
          <a:xfrm>
            <a:off x="594360" y="1280160"/>
            <a:ext cx="548640" cy="301752"/>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0:00</a:t>
            </a:r>
            <a:endParaRPr lang="en-US" sz="1100" dirty="0"/>
          </a:p>
        </p:txBody>
      </p:sp>
      <p:sp>
        <p:nvSpPr>
          <p:cNvPr id="7" name="Text 5"/>
          <p:cNvSpPr/>
          <p:nvPr/>
        </p:nvSpPr>
        <p:spPr>
          <a:xfrm>
            <a:off x="1234440" y="1280160"/>
            <a:ext cx="7132320" cy="30175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Show shelobweb.com homepage — scroll briefly to show the product overview</a:t>
            </a:r>
            <a:endParaRPr lang="en-US" sz="1100" dirty="0"/>
          </a:p>
        </p:txBody>
      </p:sp>
      <p:sp>
        <p:nvSpPr>
          <p:cNvPr id="8" name="Text 6"/>
          <p:cNvSpPr/>
          <p:nvPr/>
        </p:nvSpPr>
        <p:spPr>
          <a:xfrm>
            <a:off x="594360" y="1581912"/>
            <a:ext cx="548640" cy="301752"/>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0:15</a:t>
            </a:r>
            <a:endParaRPr lang="en-US" sz="1100" dirty="0"/>
          </a:p>
        </p:txBody>
      </p:sp>
      <p:sp>
        <p:nvSpPr>
          <p:cNvPr id="9" name="Text 7"/>
          <p:cNvSpPr/>
          <p:nvPr/>
        </p:nvSpPr>
        <p:spPr>
          <a:xfrm>
            <a:off x="1234440" y="1581912"/>
            <a:ext cx="7132320" cy="30175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Log in and show the dashboard with a property already added</a:t>
            </a:r>
            <a:endParaRPr lang="en-US" sz="1100" dirty="0"/>
          </a:p>
        </p:txBody>
      </p:sp>
      <p:sp>
        <p:nvSpPr>
          <p:cNvPr id="10" name="Shape 8"/>
          <p:cNvSpPr/>
          <p:nvPr/>
        </p:nvSpPr>
        <p:spPr>
          <a:xfrm>
            <a:off x="457200" y="1883664"/>
            <a:ext cx="8229600" cy="301752"/>
          </a:xfrm>
          <a:prstGeom prst="rect">
            <a:avLst/>
          </a:prstGeom>
          <a:solidFill>
            <a:srgbClr val="131624">
              <a:alpha val="50000"/>
            </a:srgbClr>
          </a:solidFill>
          <a:ln/>
        </p:spPr>
      </p:sp>
      <p:sp>
        <p:nvSpPr>
          <p:cNvPr id="11" name="Text 9"/>
          <p:cNvSpPr/>
          <p:nvPr/>
        </p:nvSpPr>
        <p:spPr>
          <a:xfrm>
            <a:off x="594360" y="1883664"/>
            <a:ext cx="548640" cy="301752"/>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0:25</a:t>
            </a:r>
            <a:endParaRPr lang="en-US" sz="1100" dirty="0"/>
          </a:p>
        </p:txBody>
      </p:sp>
      <p:sp>
        <p:nvSpPr>
          <p:cNvPr id="12" name="Text 10"/>
          <p:cNvSpPr/>
          <p:nvPr/>
        </p:nvSpPr>
        <p:spPr>
          <a:xfrm>
            <a:off x="1234440" y="1883664"/>
            <a:ext cx="7132320" cy="30175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Navigate to Settings → show a property with no Google integration</a:t>
            </a:r>
            <a:endParaRPr lang="en-US" sz="1100" dirty="0"/>
          </a:p>
        </p:txBody>
      </p:sp>
      <p:sp>
        <p:nvSpPr>
          <p:cNvPr id="13" name="Text 11"/>
          <p:cNvSpPr/>
          <p:nvPr/>
        </p:nvSpPr>
        <p:spPr>
          <a:xfrm>
            <a:off x="594360" y="2185416"/>
            <a:ext cx="548640" cy="301752"/>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0:35</a:t>
            </a:r>
            <a:endParaRPr lang="en-US" sz="1100" dirty="0"/>
          </a:p>
        </p:txBody>
      </p:sp>
      <p:sp>
        <p:nvSpPr>
          <p:cNvPr id="14" name="Text 12"/>
          <p:cNvSpPr/>
          <p:nvPr/>
        </p:nvSpPr>
        <p:spPr>
          <a:xfrm>
            <a:off x="1234440" y="2185416"/>
            <a:ext cx="7132320" cy="30175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Click "Connect Google" — show the redirect to Google's consent screen</a:t>
            </a:r>
            <a:endParaRPr lang="en-US" sz="1100" dirty="0"/>
          </a:p>
        </p:txBody>
      </p:sp>
      <p:sp>
        <p:nvSpPr>
          <p:cNvPr id="15" name="Shape 13"/>
          <p:cNvSpPr/>
          <p:nvPr/>
        </p:nvSpPr>
        <p:spPr>
          <a:xfrm>
            <a:off x="457200" y="2487168"/>
            <a:ext cx="8229600" cy="301752"/>
          </a:xfrm>
          <a:prstGeom prst="rect">
            <a:avLst/>
          </a:prstGeom>
          <a:solidFill>
            <a:srgbClr val="131624">
              <a:alpha val="50000"/>
            </a:srgbClr>
          </a:solidFill>
          <a:ln/>
        </p:spPr>
      </p:sp>
      <p:sp>
        <p:nvSpPr>
          <p:cNvPr id="16" name="Text 14"/>
          <p:cNvSpPr/>
          <p:nvPr/>
        </p:nvSpPr>
        <p:spPr>
          <a:xfrm>
            <a:off x="594360" y="2487168"/>
            <a:ext cx="548640" cy="301752"/>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0:45</a:t>
            </a:r>
            <a:endParaRPr lang="en-US" sz="1100" dirty="0"/>
          </a:p>
        </p:txBody>
      </p:sp>
      <p:sp>
        <p:nvSpPr>
          <p:cNvPr id="17" name="Text 15"/>
          <p:cNvSpPr/>
          <p:nvPr/>
        </p:nvSpPr>
        <p:spPr>
          <a:xfrm>
            <a:off x="1234440" y="2487168"/>
            <a:ext cx="7132320" cy="30175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Show the consent screen with both scopes listed — select account and click Allow</a:t>
            </a:r>
            <a:endParaRPr lang="en-US" sz="1100" dirty="0"/>
          </a:p>
        </p:txBody>
      </p:sp>
      <p:sp>
        <p:nvSpPr>
          <p:cNvPr id="18" name="Text 16"/>
          <p:cNvSpPr/>
          <p:nvPr/>
        </p:nvSpPr>
        <p:spPr>
          <a:xfrm>
            <a:off x="594360" y="2788920"/>
            <a:ext cx="548640" cy="301752"/>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0:55</a:t>
            </a:r>
            <a:endParaRPr lang="en-US" sz="1100" dirty="0"/>
          </a:p>
        </p:txBody>
      </p:sp>
      <p:sp>
        <p:nvSpPr>
          <p:cNvPr id="19" name="Text 17"/>
          <p:cNvSpPr/>
          <p:nvPr/>
        </p:nvSpPr>
        <p:spPr>
          <a:xfrm>
            <a:off x="1234440" y="2788920"/>
            <a:ext cx="7132320" cy="30175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Show the redirect back to Shelob Web with the success message</a:t>
            </a:r>
            <a:endParaRPr lang="en-US" sz="1100" dirty="0"/>
          </a:p>
        </p:txBody>
      </p:sp>
      <p:sp>
        <p:nvSpPr>
          <p:cNvPr id="20" name="Shape 18"/>
          <p:cNvSpPr/>
          <p:nvPr/>
        </p:nvSpPr>
        <p:spPr>
          <a:xfrm>
            <a:off x="457200" y="3090672"/>
            <a:ext cx="8229600" cy="301752"/>
          </a:xfrm>
          <a:prstGeom prst="rect">
            <a:avLst/>
          </a:prstGeom>
          <a:solidFill>
            <a:srgbClr val="131624">
              <a:alpha val="50000"/>
            </a:srgbClr>
          </a:solidFill>
          <a:ln/>
        </p:spPr>
      </p:sp>
      <p:sp>
        <p:nvSpPr>
          <p:cNvPr id="21" name="Text 19"/>
          <p:cNvSpPr/>
          <p:nvPr/>
        </p:nvSpPr>
        <p:spPr>
          <a:xfrm>
            <a:off x="594360" y="3090672"/>
            <a:ext cx="548640" cy="301752"/>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1:05</a:t>
            </a:r>
            <a:endParaRPr lang="en-US" sz="1100" dirty="0"/>
          </a:p>
        </p:txBody>
      </p:sp>
      <p:sp>
        <p:nvSpPr>
          <p:cNvPr id="22" name="Text 20"/>
          <p:cNvSpPr/>
          <p:nvPr/>
        </p:nvSpPr>
        <p:spPr>
          <a:xfrm>
            <a:off x="1234440" y="3090672"/>
            <a:ext cx="7132320" cy="30175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Navigate to the property → click the GA4 tab → show sessions, bounce rate, top pages</a:t>
            </a:r>
            <a:endParaRPr lang="en-US" sz="1100" dirty="0"/>
          </a:p>
        </p:txBody>
      </p:sp>
      <p:sp>
        <p:nvSpPr>
          <p:cNvPr id="23" name="Text 21"/>
          <p:cNvSpPr/>
          <p:nvPr/>
        </p:nvSpPr>
        <p:spPr>
          <a:xfrm>
            <a:off x="594360" y="3392424"/>
            <a:ext cx="548640" cy="301752"/>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1:25</a:t>
            </a:r>
            <a:endParaRPr lang="en-US" sz="1100" dirty="0"/>
          </a:p>
        </p:txBody>
      </p:sp>
      <p:sp>
        <p:nvSpPr>
          <p:cNvPr id="24" name="Text 22"/>
          <p:cNvSpPr/>
          <p:nvPr/>
        </p:nvSpPr>
        <p:spPr>
          <a:xfrm>
            <a:off x="1234440" y="3392424"/>
            <a:ext cx="7132320" cy="30175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Click the Search tab → show keywords, clicks, impressions, CTR, positions</a:t>
            </a:r>
            <a:endParaRPr lang="en-US" sz="1100" dirty="0"/>
          </a:p>
        </p:txBody>
      </p:sp>
      <p:sp>
        <p:nvSpPr>
          <p:cNvPr id="25" name="Shape 23"/>
          <p:cNvSpPr/>
          <p:nvPr/>
        </p:nvSpPr>
        <p:spPr>
          <a:xfrm>
            <a:off x="457200" y="3694176"/>
            <a:ext cx="8229600" cy="301752"/>
          </a:xfrm>
          <a:prstGeom prst="rect">
            <a:avLst/>
          </a:prstGeom>
          <a:solidFill>
            <a:srgbClr val="131624">
              <a:alpha val="50000"/>
            </a:srgbClr>
          </a:solidFill>
          <a:ln/>
        </p:spPr>
      </p:sp>
      <p:sp>
        <p:nvSpPr>
          <p:cNvPr id="26" name="Text 24"/>
          <p:cNvSpPr/>
          <p:nvPr/>
        </p:nvSpPr>
        <p:spPr>
          <a:xfrm>
            <a:off x="594360" y="3694176"/>
            <a:ext cx="548640" cy="301752"/>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1:45</a:t>
            </a:r>
            <a:endParaRPr lang="en-US" sz="1100" dirty="0"/>
          </a:p>
        </p:txBody>
      </p:sp>
      <p:sp>
        <p:nvSpPr>
          <p:cNvPr id="27" name="Text 25"/>
          <p:cNvSpPr/>
          <p:nvPr/>
        </p:nvSpPr>
        <p:spPr>
          <a:xfrm>
            <a:off x="1234440" y="3694176"/>
            <a:ext cx="7132320" cy="30175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Go back to Settings → click "Disconnect" on the Google integration</a:t>
            </a:r>
            <a:endParaRPr lang="en-US" sz="1100" dirty="0"/>
          </a:p>
        </p:txBody>
      </p:sp>
      <p:sp>
        <p:nvSpPr>
          <p:cNvPr id="28" name="Text 26"/>
          <p:cNvSpPr/>
          <p:nvPr/>
        </p:nvSpPr>
        <p:spPr>
          <a:xfrm>
            <a:off x="594360" y="3995928"/>
            <a:ext cx="548640" cy="301752"/>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1:55</a:t>
            </a:r>
            <a:endParaRPr lang="en-US" sz="1100" dirty="0"/>
          </a:p>
        </p:txBody>
      </p:sp>
      <p:sp>
        <p:nvSpPr>
          <p:cNvPr id="29" name="Text 27"/>
          <p:cNvSpPr/>
          <p:nvPr/>
        </p:nvSpPr>
        <p:spPr>
          <a:xfrm>
            <a:off x="1234440" y="3995928"/>
            <a:ext cx="7132320" cy="30175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Show the property returns to unconnected state — GA4/Search data is no longer displayed</a:t>
            </a:r>
            <a:endParaRPr lang="en-US" sz="1100" dirty="0"/>
          </a:p>
        </p:txBody>
      </p:sp>
      <p:sp>
        <p:nvSpPr>
          <p:cNvPr id="30" name="Shape 28"/>
          <p:cNvSpPr/>
          <p:nvPr/>
        </p:nvSpPr>
        <p:spPr>
          <a:xfrm>
            <a:off x="457200" y="4297680"/>
            <a:ext cx="8229600" cy="301752"/>
          </a:xfrm>
          <a:prstGeom prst="rect">
            <a:avLst/>
          </a:prstGeom>
          <a:solidFill>
            <a:srgbClr val="131624">
              <a:alpha val="50000"/>
            </a:srgbClr>
          </a:solidFill>
          <a:ln/>
        </p:spPr>
      </p:sp>
      <p:sp>
        <p:nvSpPr>
          <p:cNvPr id="31" name="Text 29"/>
          <p:cNvSpPr/>
          <p:nvPr/>
        </p:nvSpPr>
        <p:spPr>
          <a:xfrm>
            <a:off x="594360" y="4297680"/>
            <a:ext cx="548640" cy="301752"/>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2:05</a:t>
            </a:r>
            <a:endParaRPr lang="en-US" sz="1100" dirty="0"/>
          </a:p>
        </p:txBody>
      </p:sp>
      <p:sp>
        <p:nvSpPr>
          <p:cNvPr id="32" name="Text 30"/>
          <p:cNvSpPr/>
          <p:nvPr/>
        </p:nvSpPr>
        <p:spPr>
          <a:xfrm>
            <a:off x="1234440" y="4297680"/>
            <a:ext cx="7132320" cy="30175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Open shelobweb.com/policies — briefly show the privacy policy page</a:t>
            </a:r>
            <a:endParaRPr lang="en-US" sz="1100" dirty="0"/>
          </a:p>
        </p:txBody>
      </p:sp>
      <p:sp>
        <p:nvSpPr>
          <p:cNvPr id="33" name="Text 31"/>
          <p:cNvSpPr/>
          <p:nvPr/>
        </p:nvSpPr>
        <p:spPr>
          <a:xfrm>
            <a:off x="594360" y="4599432"/>
            <a:ext cx="548640" cy="301752"/>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2:15</a:t>
            </a:r>
            <a:endParaRPr lang="en-US" sz="1100" dirty="0"/>
          </a:p>
        </p:txBody>
      </p:sp>
      <p:sp>
        <p:nvSpPr>
          <p:cNvPr id="34" name="Text 32"/>
          <p:cNvSpPr/>
          <p:nvPr/>
        </p:nvSpPr>
        <p:spPr>
          <a:xfrm>
            <a:off x="1234440" y="4599432"/>
            <a:ext cx="7132320" cy="30175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End recording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C1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4D399"/>
          </a:solidFill>
          <a:ln/>
        </p:spPr>
      </p:sp>
      <p:sp>
        <p:nvSpPr>
          <p:cNvPr id="3" name="Text 1"/>
          <p:cNvSpPr/>
          <p:nvPr/>
        </p:nvSpPr>
        <p:spPr>
          <a:xfrm>
            <a:off x="731520" y="365760"/>
            <a:ext cx="7315200" cy="548640"/>
          </a:xfrm>
          <a:prstGeom prst="rect">
            <a:avLst/>
          </a:prstGeom>
          <a:noFill/>
          <a:ln/>
        </p:spPr>
        <p:txBody>
          <a:bodyPr wrap="square" lIns="0" tIns="0" rIns="0" bIns="0" rtlCol="0" anchor="ctr"/>
          <a:lstStyle/>
          <a:p>
            <a:pPr indent="0" marL="0">
              <a:buNone/>
            </a:pPr>
            <a:r>
              <a:rPr lang="en-US" sz="3000" b="1" dirty="0">
                <a:solidFill>
                  <a:srgbClr val="F1F5F9"/>
                </a:solidFill>
                <a:latin typeface="Calibri" pitchFamily="34" charset="0"/>
                <a:ea typeface="Calibri" pitchFamily="34" charset="-122"/>
                <a:cs typeface="Calibri" pitchFamily="34" charset="-120"/>
              </a:rPr>
              <a:t>Verification Checklist</a:t>
            </a:r>
            <a:endParaRPr lang="en-US" sz="3000" dirty="0"/>
          </a:p>
        </p:txBody>
      </p:sp>
      <p:sp>
        <p:nvSpPr>
          <p:cNvPr id="4" name="Text 2"/>
          <p:cNvSpPr/>
          <p:nvPr/>
        </p:nvSpPr>
        <p:spPr>
          <a:xfrm>
            <a:off x="731520" y="868680"/>
            <a:ext cx="7680960" cy="32004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Ensure all of these are covered in your submission.</a:t>
            </a:r>
            <a:endParaRPr lang="en-US" sz="1300" dirty="0"/>
          </a:p>
        </p:txBody>
      </p:sp>
      <p:sp>
        <p:nvSpPr>
          <p:cNvPr id="5" name="Text 3"/>
          <p:cNvSpPr/>
          <p:nvPr/>
        </p:nvSpPr>
        <p:spPr>
          <a:xfrm>
            <a:off x="731520" y="1417320"/>
            <a:ext cx="365760" cy="32004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1143000" y="1417320"/>
            <a:ext cx="7132320" cy="320040"/>
          </a:xfrm>
          <a:prstGeom prst="rect">
            <a:avLst/>
          </a:prstGeom>
          <a:noFill/>
          <a:ln/>
        </p:spPr>
        <p:txBody>
          <a:bodyPr wrap="square" lIns="0" tIns="0" rIns="0" bIns="0" rtlCol="0" anchor="ctr"/>
          <a:lstStyle/>
          <a:p>
            <a:pPr indent="0" marL="0">
              <a:buNone/>
            </a:pPr>
            <a:r>
              <a:rPr lang="en-US" sz="1400" dirty="0">
                <a:solidFill>
                  <a:srgbClr val="F1F5F9"/>
                </a:solidFill>
                <a:latin typeface="Calibri" pitchFamily="34" charset="0"/>
                <a:ea typeface="Calibri" pitchFamily="34" charset="-122"/>
                <a:cs typeface="Calibri" pitchFamily="34" charset="-120"/>
              </a:rPr>
              <a:t>Homepage shown (shelobweb.com)</a:t>
            </a:r>
            <a:endParaRPr lang="en-US" sz="1400" dirty="0"/>
          </a:p>
        </p:txBody>
      </p:sp>
      <p:sp>
        <p:nvSpPr>
          <p:cNvPr id="7" name="Text 5"/>
          <p:cNvSpPr/>
          <p:nvPr/>
        </p:nvSpPr>
        <p:spPr>
          <a:xfrm>
            <a:off x="731520" y="1773936"/>
            <a:ext cx="365760" cy="32004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1143000" y="1773936"/>
            <a:ext cx="7132320" cy="320040"/>
          </a:xfrm>
          <a:prstGeom prst="rect">
            <a:avLst/>
          </a:prstGeom>
          <a:noFill/>
          <a:ln/>
        </p:spPr>
        <p:txBody>
          <a:bodyPr wrap="square" lIns="0" tIns="0" rIns="0" bIns="0" rtlCol="0" anchor="ctr"/>
          <a:lstStyle/>
          <a:p>
            <a:pPr indent="0" marL="0">
              <a:buNone/>
            </a:pPr>
            <a:r>
              <a:rPr lang="en-US" sz="1400" dirty="0">
                <a:solidFill>
                  <a:srgbClr val="F1F5F9"/>
                </a:solidFill>
                <a:latin typeface="Calibri" pitchFamily="34" charset="0"/>
                <a:ea typeface="Calibri" pitchFamily="34" charset="-122"/>
                <a:cs typeface="Calibri" pitchFamily="34" charset="-120"/>
              </a:rPr>
              <a:t>OAuth consent screen shown with both scopes visible</a:t>
            </a:r>
            <a:endParaRPr lang="en-US" sz="1400" dirty="0"/>
          </a:p>
        </p:txBody>
      </p:sp>
      <p:sp>
        <p:nvSpPr>
          <p:cNvPr id="9" name="Text 7"/>
          <p:cNvSpPr/>
          <p:nvPr/>
        </p:nvSpPr>
        <p:spPr>
          <a:xfrm>
            <a:off x="731520" y="2130552"/>
            <a:ext cx="365760" cy="32004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1143000" y="2130552"/>
            <a:ext cx="7132320" cy="320040"/>
          </a:xfrm>
          <a:prstGeom prst="rect">
            <a:avLst/>
          </a:prstGeom>
          <a:noFill/>
          <a:ln/>
        </p:spPr>
        <p:txBody>
          <a:bodyPr wrap="square" lIns="0" tIns="0" rIns="0" bIns="0" rtlCol="0" anchor="ctr"/>
          <a:lstStyle/>
          <a:p>
            <a:pPr indent="0" marL="0">
              <a:buNone/>
            </a:pPr>
            <a:r>
              <a:rPr lang="en-US" sz="1400" dirty="0">
                <a:solidFill>
                  <a:srgbClr val="F1F5F9"/>
                </a:solidFill>
                <a:latin typeface="Calibri" pitchFamily="34" charset="0"/>
                <a:ea typeface="Calibri" pitchFamily="34" charset="-122"/>
                <a:cs typeface="Calibri" pitchFamily="34" charset="-120"/>
              </a:rPr>
              <a:t>User grants access and redirect completes successfully</a:t>
            </a:r>
            <a:endParaRPr lang="en-US" sz="1400" dirty="0"/>
          </a:p>
        </p:txBody>
      </p:sp>
      <p:sp>
        <p:nvSpPr>
          <p:cNvPr id="11" name="Text 9"/>
          <p:cNvSpPr/>
          <p:nvPr/>
        </p:nvSpPr>
        <p:spPr>
          <a:xfrm>
            <a:off x="731520" y="2487168"/>
            <a:ext cx="365760" cy="32004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1143000" y="2487168"/>
            <a:ext cx="7132320" cy="320040"/>
          </a:xfrm>
          <a:prstGeom prst="rect">
            <a:avLst/>
          </a:prstGeom>
          <a:noFill/>
          <a:ln/>
        </p:spPr>
        <p:txBody>
          <a:bodyPr wrap="square" lIns="0" tIns="0" rIns="0" bIns="0" rtlCol="0" anchor="ctr"/>
          <a:lstStyle/>
          <a:p>
            <a:pPr indent="0" marL="0">
              <a:buNone/>
            </a:pPr>
            <a:r>
              <a:rPr lang="en-US" sz="1400" dirty="0">
                <a:solidFill>
                  <a:srgbClr val="F1F5F9"/>
                </a:solidFill>
                <a:latin typeface="Calibri" pitchFamily="34" charset="0"/>
                <a:ea typeface="Calibri" pitchFamily="34" charset="-122"/>
                <a:cs typeface="Calibri" pitchFamily="34" charset="-120"/>
              </a:rPr>
              <a:t>GA4 data displayed in dashboard (analytics.readonly)</a:t>
            </a:r>
            <a:endParaRPr lang="en-US" sz="1400" dirty="0"/>
          </a:p>
        </p:txBody>
      </p:sp>
      <p:sp>
        <p:nvSpPr>
          <p:cNvPr id="13" name="Text 11"/>
          <p:cNvSpPr/>
          <p:nvPr/>
        </p:nvSpPr>
        <p:spPr>
          <a:xfrm>
            <a:off x="731520" y="2843784"/>
            <a:ext cx="365760" cy="32004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1143000" y="2843784"/>
            <a:ext cx="7132320" cy="320040"/>
          </a:xfrm>
          <a:prstGeom prst="rect">
            <a:avLst/>
          </a:prstGeom>
          <a:noFill/>
          <a:ln/>
        </p:spPr>
        <p:txBody>
          <a:bodyPr wrap="square" lIns="0" tIns="0" rIns="0" bIns="0" rtlCol="0" anchor="ctr"/>
          <a:lstStyle/>
          <a:p>
            <a:pPr indent="0" marL="0">
              <a:buNone/>
            </a:pPr>
            <a:r>
              <a:rPr lang="en-US" sz="1400" dirty="0">
                <a:solidFill>
                  <a:srgbClr val="F1F5F9"/>
                </a:solidFill>
                <a:latin typeface="Calibri" pitchFamily="34" charset="0"/>
                <a:ea typeface="Calibri" pitchFamily="34" charset="-122"/>
                <a:cs typeface="Calibri" pitchFamily="34" charset="-120"/>
              </a:rPr>
              <a:t>Search Console data displayed in dashboard (webmasters.readonly)</a:t>
            </a:r>
            <a:endParaRPr lang="en-US" sz="1400" dirty="0"/>
          </a:p>
        </p:txBody>
      </p:sp>
      <p:sp>
        <p:nvSpPr>
          <p:cNvPr id="15" name="Text 13"/>
          <p:cNvSpPr/>
          <p:nvPr/>
        </p:nvSpPr>
        <p:spPr>
          <a:xfrm>
            <a:off x="731520" y="3200400"/>
            <a:ext cx="365760" cy="32004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143000" y="3200400"/>
            <a:ext cx="7132320" cy="320040"/>
          </a:xfrm>
          <a:prstGeom prst="rect">
            <a:avLst/>
          </a:prstGeom>
          <a:noFill/>
          <a:ln/>
        </p:spPr>
        <p:txBody>
          <a:bodyPr wrap="square" lIns="0" tIns="0" rIns="0" bIns="0" rtlCol="0" anchor="ctr"/>
          <a:lstStyle/>
          <a:p>
            <a:pPr indent="0" marL="0">
              <a:buNone/>
            </a:pPr>
            <a:r>
              <a:rPr lang="en-US" sz="1400" dirty="0">
                <a:solidFill>
                  <a:srgbClr val="F1F5F9"/>
                </a:solidFill>
                <a:latin typeface="Calibri" pitchFamily="34" charset="0"/>
                <a:ea typeface="Calibri" pitchFamily="34" charset="-122"/>
                <a:cs typeface="Calibri" pitchFamily="34" charset="-120"/>
              </a:rPr>
              <a:t>Disconnect flow shown — user can revoke in-app</a:t>
            </a:r>
            <a:endParaRPr lang="en-US" sz="1400" dirty="0"/>
          </a:p>
        </p:txBody>
      </p:sp>
      <p:sp>
        <p:nvSpPr>
          <p:cNvPr id="17" name="Text 15"/>
          <p:cNvSpPr/>
          <p:nvPr/>
        </p:nvSpPr>
        <p:spPr>
          <a:xfrm>
            <a:off x="731520" y="3557016"/>
            <a:ext cx="365760" cy="32004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1143000" y="3557016"/>
            <a:ext cx="7132320" cy="320040"/>
          </a:xfrm>
          <a:prstGeom prst="rect">
            <a:avLst/>
          </a:prstGeom>
          <a:noFill/>
          <a:ln/>
        </p:spPr>
        <p:txBody>
          <a:bodyPr wrap="square" lIns="0" tIns="0" rIns="0" bIns="0" rtlCol="0" anchor="ctr"/>
          <a:lstStyle/>
          <a:p>
            <a:pPr indent="0" marL="0">
              <a:buNone/>
            </a:pPr>
            <a:r>
              <a:rPr lang="en-US" sz="1400" dirty="0">
                <a:solidFill>
                  <a:srgbClr val="F1F5F9"/>
                </a:solidFill>
                <a:latin typeface="Calibri" pitchFamily="34" charset="0"/>
                <a:ea typeface="Calibri" pitchFamily="34" charset="-122"/>
                <a:cs typeface="Calibri" pitchFamily="34" charset="-120"/>
              </a:rPr>
              <a:t>Privacy policy page shown (shelobweb.com/policies)</a:t>
            </a:r>
            <a:endParaRPr lang="en-US" sz="1400" dirty="0"/>
          </a:p>
        </p:txBody>
      </p:sp>
      <p:sp>
        <p:nvSpPr>
          <p:cNvPr id="19" name="Text 17"/>
          <p:cNvSpPr/>
          <p:nvPr/>
        </p:nvSpPr>
        <p:spPr>
          <a:xfrm>
            <a:off x="731520" y="3913632"/>
            <a:ext cx="365760" cy="32004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1143000" y="3913632"/>
            <a:ext cx="7132320" cy="320040"/>
          </a:xfrm>
          <a:prstGeom prst="rect">
            <a:avLst/>
          </a:prstGeom>
          <a:noFill/>
          <a:ln/>
        </p:spPr>
        <p:txBody>
          <a:bodyPr wrap="square" lIns="0" tIns="0" rIns="0" bIns="0" rtlCol="0" anchor="ctr"/>
          <a:lstStyle/>
          <a:p>
            <a:pPr indent="0" marL="0">
              <a:buNone/>
            </a:pPr>
            <a:r>
              <a:rPr lang="en-US" sz="1400" dirty="0">
                <a:solidFill>
                  <a:srgbClr val="F1F5F9"/>
                </a:solidFill>
                <a:latin typeface="Calibri" pitchFamily="34" charset="0"/>
                <a:ea typeface="Calibri" pitchFamily="34" charset="-122"/>
                <a:cs typeface="Calibri" pitchFamily="34" charset="-120"/>
              </a:rPr>
              <a:t>Video is under 3 minutes</a:t>
            </a:r>
            <a:endParaRPr lang="en-US" sz="1400" dirty="0"/>
          </a:p>
        </p:txBody>
      </p:sp>
      <p:sp>
        <p:nvSpPr>
          <p:cNvPr id="21" name="Text 19"/>
          <p:cNvSpPr/>
          <p:nvPr/>
        </p:nvSpPr>
        <p:spPr>
          <a:xfrm>
            <a:off x="731520" y="4270248"/>
            <a:ext cx="365760" cy="320040"/>
          </a:xfrm>
          <a:prstGeom prst="rect">
            <a:avLst/>
          </a:prstGeom>
          <a:noFill/>
          <a:ln/>
        </p:spPr>
        <p:txBody>
          <a:bodyPr wrap="square" lIns="0" tIns="0" rIns="0" bIns="0" rtlCol="0" anchor="ctr"/>
          <a:lstStyle/>
          <a:p>
            <a:pPr indent="0" marL="0">
              <a:buNone/>
            </a:pPr>
            <a:r>
              <a:rPr lang="en-US" sz="1600" b="1" dirty="0">
                <a:solidFill>
                  <a:srgbClr val="64748B"/>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1143000" y="4270248"/>
            <a:ext cx="7132320" cy="32004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Video is uploaded as Unlisted on YouTube</a:t>
            </a:r>
            <a:endParaRPr lang="en-US" sz="1400" dirty="0"/>
          </a:p>
        </p:txBody>
      </p:sp>
      <p:sp>
        <p:nvSpPr>
          <p:cNvPr id="23" name="Text 21"/>
          <p:cNvSpPr/>
          <p:nvPr/>
        </p:nvSpPr>
        <p:spPr>
          <a:xfrm>
            <a:off x="731520" y="4626864"/>
            <a:ext cx="365760" cy="320040"/>
          </a:xfrm>
          <a:prstGeom prst="rect">
            <a:avLst/>
          </a:prstGeom>
          <a:noFill/>
          <a:ln/>
        </p:spPr>
        <p:txBody>
          <a:bodyPr wrap="square" lIns="0" tIns="0" rIns="0" bIns="0" rtlCol="0" anchor="ctr"/>
          <a:lstStyle/>
          <a:p>
            <a:pPr indent="0" marL="0">
              <a:buNone/>
            </a:pPr>
            <a:r>
              <a:rPr lang="en-US" sz="1600" b="1" dirty="0">
                <a:solidFill>
                  <a:srgbClr val="64748B"/>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1143000" y="4626864"/>
            <a:ext cx="7132320" cy="32004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YouTube link submitted in Google Cloud Console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Shelob Web — Google OAuth Verification Video Storyboard</dc:title>
  <dc:subject>PptxGenJS Presentation</dc:subject>
  <dc:creator>Shelob Web</dc:creator>
  <cp:lastModifiedBy>Shelob Web</cp:lastModifiedBy>
  <cp:revision>1</cp:revision>
  <dcterms:created xsi:type="dcterms:W3CDTF">2026-03-23T17:07:33Z</dcterms:created>
  <dcterms:modified xsi:type="dcterms:W3CDTF">2026-03-23T17:07:33Z</dcterms:modified>
</cp:coreProperties>
</file>